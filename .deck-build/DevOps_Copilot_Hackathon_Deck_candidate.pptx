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b3bcb9356b43db" /><Relationship Type="http://schemas.openxmlformats.org/officeDocument/2006/relationships/extended-properties" Target="/docProps/app.xml" Id="R8cd50c25e796462f" /><Relationship Type="http://schemas.openxmlformats.org/officeDocument/2006/relationships/officeDocument" Target="/ppt/presentation.xml" Id="Rfd799b308f484c80" /></Relationships>
</file>

<file path=ppt/presentation.xml><?xml version="1.0" encoding="utf-8"?>
<p:presentation xmlns:p="http://schemas.openxmlformats.org/presentationml/2006/main">
  <p:sldMasterIdLst>
    <p:sldMasterId xmlns:r="http://schemas.openxmlformats.org/officeDocument/2006/relationships" id="2147483648" r:id="R9b9d642b86ef439b"/>
  </p:sldMasterIdLst>
  <p:notesMasterIdLst>
    <p:notesMasterId xmlns:r="http://schemas.openxmlformats.org/officeDocument/2006/relationships" r:id="R3dd90f5a96c042c0"/>
  </p:notesMasterIdLst>
  <p:sldIdLst>
    <p:sldId xmlns:r="http://schemas.openxmlformats.org/officeDocument/2006/relationships" id="256" r:id="R62d02601a4794cff"/>
    <p:sldId xmlns:r="http://schemas.openxmlformats.org/officeDocument/2006/relationships" id="257" r:id="Rb21ee0ceb60049ef"/>
    <p:sldId xmlns:r="http://schemas.openxmlformats.org/officeDocument/2006/relationships" id="258" r:id="R295a8f790c194c2f"/>
    <p:sldId xmlns:r="http://schemas.openxmlformats.org/officeDocument/2006/relationships" id="259" r:id="R199b95d7b00248bc"/>
    <p:sldId xmlns:r="http://schemas.openxmlformats.org/officeDocument/2006/relationships" id="260" r:id="R4396d4b81c404182"/>
    <p:sldId xmlns:r="http://schemas.openxmlformats.org/officeDocument/2006/relationships" id="261" r:id="R0749d8a5bd8b4b03"/>
    <p:sldId xmlns:r="http://schemas.openxmlformats.org/officeDocument/2006/relationships" id="262" r:id="R32df2ae25420434b"/>
    <p:sldId xmlns:r="http://schemas.openxmlformats.org/officeDocument/2006/relationships" id="263" r:id="R9a04fb09109342e6"/>
    <p:sldId xmlns:r="http://schemas.openxmlformats.org/officeDocument/2006/relationships" id="264" r:id="Rd98b7e5de99e401e"/>
    <p:sldId xmlns:r="http://schemas.openxmlformats.org/officeDocument/2006/relationships" id="265" r:id="R32901430b9894b53"/>
    <p:sldId xmlns:r="http://schemas.openxmlformats.org/officeDocument/2006/relationships" id="266" r:id="R504c4763f2eb4898"/>
    <p:sldId xmlns:r="http://schemas.openxmlformats.org/officeDocument/2006/relationships" id="267" r:id="Raf3d1db763b242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949dc2cbd347b7" /><Relationship Type="http://schemas.openxmlformats.org/officeDocument/2006/relationships/slideMaster" Target="/ppt/slideMasters/slideMaster1.xml" Id="R9b9d642b86ef439b" /><Relationship Type="http://schemas.openxmlformats.org/officeDocument/2006/relationships/notesMaster" Target="/ppt/notesMasters/notesMaster1.xml" Id="R3dd90f5a96c042c0" /><Relationship Type="http://schemas.openxmlformats.org/officeDocument/2006/relationships/presProps" Target="/ppt/presProps.xml" Id="R14e7cd7fce964e61" /><Relationship Type="http://schemas.openxmlformats.org/officeDocument/2006/relationships/tableStyles" Target="/ppt/tableStyles.xml" Id="R391fcb5dc0e14933" /><Relationship Type="http://schemas.openxmlformats.org/officeDocument/2006/relationships/slide" Target="/ppt/slides/slide1.xml" Id="R62d02601a4794cff" /><Relationship Type="http://schemas.openxmlformats.org/officeDocument/2006/relationships/slide" Target="/ppt/slides/slide2.xml" Id="Rb21ee0ceb60049ef" /><Relationship Type="http://schemas.openxmlformats.org/officeDocument/2006/relationships/slide" Target="/ppt/slides/slide3.xml" Id="R295a8f790c194c2f" /><Relationship Type="http://schemas.openxmlformats.org/officeDocument/2006/relationships/slide" Target="/ppt/slides/slide4.xml" Id="R199b95d7b00248bc" /><Relationship Type="http://schemas.openxmlformats.org/officeDocument/2006/relationships/slide" Target="/ppt/slides/slide5.xml" Id="R4396d4b81c404182" /><Relationship Type="http://schemas.openxmlformats.org/officeDocument/2006/relationships/slide" Target="/ppt/slides/slide6.xml" Id="R0749d8a5bd8b4b03" /><Relationship Type="http://schemas.openxmlformats.org/officeDocument/2006/relationships/slide" Target="/ppt/slides/slide7.xml" Id="R32df2ae25420434b" /><Relationship Type="http://schemas.openxmlformats.org/officeDocument/2006/relationships/slide" Target="/ppt/slides/slide8.xml" Id="R9a04fb09109342e6" /><Relationship Type="http://schemas.openxmlformats.org/officeDocument/2006/relationships/slide" Target="/ppt/slides/slide9.xml" Id="Rd98b7e5de99e401e" /><Relationship Type="http://schemas.openxmlformats.org/officeDocument/2006/relationships/slide" Target="/ppt/slides/slide10.xml" Id="R32901430b9894b53" /><Relationship Type="http://schemas.openxmlformats.org/officeDocument/2006/relationships/slide" Target="/ppt/slides/slide11.xml" Id="R504c4763f2eb4898" /><Relationship Type="http://schemas.openxmlformats.org/officeDocument/2006/relationships/slide" Target="/ppt/slides/slide12.xml" Id="Raf3d1db763b242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2bb418224845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1842ae3c3240b2" /><Relationship Type="http://schemas.openxmlformats.org/officeDocument/2006/relationships/notesMaster" Target="/ppt/notesMasters/notesMaster1.xml" Id="Redd23721503c48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129a306b654cc6" /><Relationship Type="http://schemas.openxmlformats.org/officeDocument/2006/relationships/notesMaster" Target="/ppt/notesMasters/notesMaster1.xml" Id="R986e7ada761843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982a1b671849ba" /><Relationship Type="http://schemas.openxmlformats.org/officeDocument/2006/relationships/notesMaster" Target="/ppt/notesMasters/notesMaster1.xml" Id="R36c70e0634fe46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d3a0ff093840f1" /><Relationship Type="http://schemas.openxmlformats.org/officeDocument/2006/relationships/notesMaster" Target="/ppt/notesMasters/notesMaster1.xml" Id="Rce0b0cef94354d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933019af114914" /><Relationship Type="http://schemas.openxmlformats.org/officeDocument/2006/relationships/notesMaster" Target="/ppt/notesMasters/notesMaster1.xml" Id="Rf261a99bae9b40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7b87f0fe3d4822" /><Relationship Type="http://schemas.openxmlformats.org/officeDocument/2006/relationships/notesMaster" Target="/ppt/notesMasters/notesMaster1.xml" Id="R331f7e85d66343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84e9ef73d84d9b" /><Relationship Type="http://schemas.openxmlformats.org/officeDocument/2006/relationships/notesMaster" Target="/ppt/notesMasters/notesMaster1.xml" Id="Raa548cb43bc943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c918a6ee1a455c" /><Relationship Type="http://schemas.openxmlformats.org/officeDocument/2006/relationships/notesMaster" Target="/ppt/notesMasters/notesMaster1.xml" Id="R29d0990278db45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413571ee08432a" /><Relationship Type="http://schemas.openxmlformats.org/officeDocument/2006/relationships/notesMaster" Target="/ppt/notesMasters/notesMaster1.xml" Id="R73b2ab2da68c4b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7d8ba8f4794947" /><Relationship Type="http://schemas.openxmlformats.org/officeDocument/2006/relationships/notesMaster" Target="/ppt/notesMasters/notesMaster1.xml" Id="Re9117267abb94c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781ebccb164cbc" /><Relationship Type="http://schemas.openxmlformats.org/officeDocument/2006/relationships/notesMaster" Target="/ppt/notesMasters/notesMaster1.xml" Id="R6f1e1441d4714b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93f4486a704887" /><Relationship Type="http://schemas.openxmlformats.org/officeDocument/2006/relationships/notesMaster" Target="/ppt/notesMasters/notesMaster1.xml" Id="Rd5ab08fbad9c4a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DevOps Copilot helps an operator move from a production alert to a verified recovery. The important point is control: AI investigates, but people still authorize production changes.</a:t>
            </a:r>
          </a:p>
          <a:p xmlns:a="http://schemas.openxmlformats.org/drawingml/2006/main">
            <a:r>
              <a:t/>
            </a:r>
          </a:p>
          <a:p xmlns:a="http://schemas.openxmlformats.org/drawingml/2006/main">
            <a:r>
              <a:t>Visual: Actual product screenshot, captured from the project UI.</a:t>
            </a:r>
          </a:p>
          <a:p xmlns:a="http://schemas.openxmlformats.org/drawingml/2006/main">
            <a:r>
              <a:t/>
            </a:r>
          </a:p>
          <a:p xmlns:a="http://schemas.openxmlformats.org/drawingml/2006/main">
            <a:r>
              <a:t>Layout: Minimal cover. Title on the left, live product on the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During an incident, the team has health data, logs, deployment history and configuration changes, but no shared evidence trail. The next decision can change production, so speed alone is not enough.</a:t>
            </a:r>
          </a:p>
          <a:p xmlns:a="http://schemas.openxmlformats.org/drawingml/2006/main">
            <a:r>
              <a:t/>
            </a:r>
          </a:p>
          <a:p xmlns:a="http://schemas.openxmlformats.org/drawingml/2006/main">
            <a:r>
              <a:t>Visual: Signal sources converge into a fragmented-evidence problem and a risky-decision window.</a:t>
            </a:r>
          </a:p>
          <a:p xmlns:a="http://schemas.openxmlformats.org/drawingml/2006/main">
            <a:r>
              <a:t/>
            </a:r>
          </a:p>
          <a:p xmlns:a="http://schemas.openxmlformats.org/drawingml/2006/main">
            <a:r>
              <a:t>Layout: Left-to-right flow. Keep the attention on the tension between urgency and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issue is not a lack of tools. It is that the tools are disconnected. Alerting detects, runbooks guide, and AI can summarize, but the operating team still has to create the trusted chain of evidence and approval.</a:t>
            </a:r>
          </a:p>
          <a:p xmlns:a="http://schemas.openxmlformats.org/drawingml/2006/main">
            <a:r>
              <a:t/>
            </a:r>
          </a:p>
          <a:p xmlns:a="http://schemas.openxmlformats.org/drawingml/2006/main">
            <a:r>
              <a:t>Visual: Three-column comparison with one missing-layer statement.</a:t>
            </a:r>
          </a:p>
          <a:p xmlns:a="http://schemas.openxmlformats.org/drawingml/2006/main">
            <a:r>
              <a:t/>
            </a:r>
          </a:p>
          <a:p xmlns:a="http://schemas.openxmlformats.org/drawingml/2006/main">
            <a:r>
              <a:t>Layout: Use a calm comparison layout. The conclusion sits alone at the bottom.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Our solution separates responsibilities. The AI investigates with read-only tools. Policy checks confidence and risk. A qualified operator chooses whether to approve, reject, or use the manual runbook. The system then verifies recovery and preserves the record.</a:t>
            </a:r>
          </a:p>
          <a:p xmlns:a="http://schemas.openxmlformats.org/drawingml/2006/main">
            <a:r>
              <a:t/>
            </a:r>
          </a:p>
          <a:p xmlns:a="http://schemas.openxmlformats.org/drawingml/2006/main">
            <a:r>
              <a:t>Visual: Three editable responsibility blocks leading to the audit and verification outcome.</a:t>
            </a:r>
          </a:p>
          <a:p xmlns:a="http://schemas.openxmlformats.org/drawingml/2006/main">
            <a:r>
              <a:t/>
            </a:r>
          </a:p>
          <a:p xmlns:a="http://schemas.openxmlformats.org/drawingml/2006/main">
            <a:r>
              <a:t>Layout: Strong center composition. Highlight the policy and human gates as the differentiator.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These are the product moments we want the judges to see: a complete evidence trail, a clear confidence gate, human approval controls, runbook explanation, verification, and a durable incident ledger.</a:t>
            </a:r>
          </a:p>
          <a:p xmlns:a="http://schemas.openxmlformats.org/drawingml/2006/main">
            <a:r>
              <a:t/>
            </a:r>
          </a:p>
          <a:p xmlns:a="http://schemas.openxmlformats.org/drawingml/2006/main">
            <a:r>
              <a:t>Visual: Six capability rows with short proof points.</a:t>
            </a:r>
          </a:p>
          <a:p xmlns:a="http://schemas.openxmlformats.org/drawingml/2006/main">
            <a:r>
              <a:t/>
            </a:r>
          </a:p>
          <a:p xmlns:a="http://schemas.openxmlformats.org/drawingml/2006/main">
            <a:r>
              <a:t>Layout: Use two balanced columns with generous whitespace.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the full response path. The agent never crosses the authorization boundary during investigation. The flow becomes actionable only after the policy gate and a human decision. Verification makes recovery an observed result rather than an assumption.</a:t>
            </a:r>
          </a:p>
          <a:p xmlns:a="http://schemas.openxmlformats.org/drawingml/2006/main">
            <a:r>
              <a:t/>
            </a:r>
          </a:p>
          <a:p xmlns:a="http://schemas.openxmlformats.org/drawingml/2006/main">
            <a:r>
              <a:t>Visual: Six-stage process diagram with numbered nodes.</a:t>
            </a:r>
          </a:p>
          <a:p xmlns:a="http://schemas.openxmlformats.org/drawingml/2006/main">
            <a:r>
              <a:t/>
            </a:r>
          </a:p>
          <a:p xmlns:a="http://schemas.openxmlformats.org/drawingml/2006/main">
            <a:r>
              <a:t>Layout: Horizontal timeline. Use this as the central visual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architecture stays modular. React presents the product. FastAPI exposes the workflow. The agent uses read-only tools, with a deterministic fallback for demo resilience. The risk engine, verifier and SQLite ledger provide the controlled system of record.</a:t>
            </a:r>
          </a:p>
          <a:p xmlns:a="http://schemas.openxmlformats.org/drawingml/2006/main">
            <a:r>
              <a:t/>
            </a:r>
          </a:p>
          <a:p xmlns:a="http://schemas.openxmlformats.org/drawingml/2006/main">
            <a:r>
              <a:t>Visual: Four-layer editable architecture plus a visible safety boundary.</a:t>
            </a:r>
          </a:p>
          <a:p xmlns:a="http://schemas.openxmlformats.org/drawingml/2006/main">
            <a:r>
              <a:t/>
            </a:r>
          </a:p>
          <a:p xmlns:a="http://schemas.openxmlformats.org/drawingml/2006/main">
            <a:r>
              <a:t>Layout: Vertical stack on the left and safety statement on the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Our core innovation is governance around the model. AI can inspect and recommend, but the system owns the confidence threshold, risk classification, role check, idempotent execution and recovery verification. That makes the demo more credible than an AI chatbot that can simply call an action.</a:t>
            </a:r>
          </a:p>
          <a:p xmlns:a="http://schemas.openxmlformats.org/drawingml/2006/main">
            <a:r>
              <a:t/>
            </a:r>
          </a:p>
          <a:p xmlns:a="http://schemas.openxmlformats.org/drawingml/2006/main">
            <a:r>
              <a:t>Visual: Two authority zones separated by a policy gate.</a:t>
            </a:r>
          </a:p>
          <a:p xmlns:a="http://schemas.openxmlformats.org/drawingml/2006/main">
            <a:r>
              <a:t/>
            </a:r>
          </a:p>
          <a:p xmlns:a="http://schemas.openxmlformats.org/drawingml/2006/main">
            <a:r>
              <a:t>Layout: Symmetrical composition. Let the policy gate carry the 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For the live demo, I will launch the database regression scenario. The audience immediately sees a guided path. We investigate, explain the evidence, show the confidence and risk gate, make a human choice, and end with verified recovery and an audit record.</a:t>
            </a:r>
          </a:p>
          <a:p xmlns:a="http://schemas.openxmlformats.org/drawingml/2006/main">
            <a:r>
              <a:t/>
            </a:r>
          </a:p>
          <a:p xmlns:a="http://schemas.openxmlformats.org/drawingml/2006/main">
            <a:r>
              <a:t>Visual: Actual product screenshot plus five demo beats.</a:t>
            </a:r>
          </a:p>
          <a:p xmlns:a="http://schemas.openxmlformats.org/drawingml/2006/main">
            <a:r>
              <a:t/>
            </a:r>
          </a:p>
          <a:p xmlns:a="http://schemas.openxmlformats.org/drawingml/2006/main">
            <a:r>
              <a:t>Layout: Screenshot occupies the left side. The exact talk track sits on the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immediate users are the people running incidents. The product gives them a shared evidence trail, a concrete approval record and a durable ledger. For scale, the simulation adapters map directly to real monitoring, deployment and notification systems. Any measurable improvement needs a real pilot, so we do not claim numbers here.</a:t>
            </a:r>
          </a:p>
          <a:p xmlns:a="http://schemas.openxmlformats.org/drawingml/2006/main">
            <a:r>
              <a:t/>
            </a:r>
          </a:p>
          <a:p xmlns:a="http://schemas.openxmlformats.org/drawingml/2006/main">
            <a:r>
              <a:t>Visual: Target user roles and a practical scale path. Include visible disclosure on unvalidated impact.</a:t>
            </a:r>
          </a:p>
          <a:p xmlns:a="http://schemas.openxmlformats.org/drawingml/2006/main">
            <a:r>
              <a:t/>
            </a:r>
          </a:p>
          <a:p xmlns:a="http://schemas.openxmlformats.org/drawingml/2006/main">
            <a:r>
              <a:t>Layout: One narrative: who benefits, then how it scales.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roadmap is deliberately realistic. First we connect the adapters to live signals and notification systems. Next we add identity, shared storage and organization-specific controls. Later we can learn from post-incident records and map dependencies from real topology data.</a:t>
            </a:r>
          </a:p>
          <a:p xmlns:a="http://schemas.openxmlformats.org/drawingml/2006/main">
            <a:r>
              <a:t/>
            </a:r>
          </a:p>
          <a:p xmlns:a="http://schemas.openxmlformats.org/drawingml/2006/main">
            <a:r>
              <a:t>Visual: Three-horizon roadmap with one clear statement of current prototype scope.</a:t>
            </a:r>
          </a:p>
          <a:p xmlns:a="http://schemas.openxmlformats.org/drawingml/2006/main">
            <a:r>
              <a:t/>
            </a:r>
          </a:p>
          <a:p xmlns:a="http://schemas.openxmlformats.org/drawingml/2006/main">
            <a:r>
              <a:t>Layout: Use simple vertical columns, no speculative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DevOps Copilot turns an incident into a controlled, explainable response loop. It keeps people in control of production changes while giving them the speed and clarity of AI-assisted investigation. Thank you.</a:t>
            </a:r>
          </a:p>
          <a:p xmlns:a="http://schemas.openxmlformats.org/drawingml/2006/main">
            <a:r>
              <a:t/>
            </a:r>
          </a:p>
          <a:p xmlns:a="http://schemas.openxmlformats.org/drawingml/2006/main">
            <a:r>
              <a:t>Visual: Closing statement with a three-word safety motif.</a:t>
            </a:r>
          </a:p>
          <a:p xmlns:a="http://schemas.openxmlformats.org/drawingml/2006/main">
            <a:r>
              <a:t/>
            </a:r>
          </a:p>
          <a:p xmlns:a="http://schemas.openxmlformats.org/drawingml/2006/main">
            <a:r>
              <a:t>Layout: Minimal final slide. Pause after the takeaway before inviting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7e21cff72e4e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9d5dbf2eff4109" /><Relationship Type="http://schemas.openxmlformats.org/officeDocument/2006/relationships/slideLayout" Target="/ppt/slideLayouts/slideLayout1.xml" Id="Rd4f85fccb28b44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f85fccb28b44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c5c1bc240e41fe" /><Relationship Type="http://schemas.openxmlformats.org/officeDocument/2006/relationships/image" Target="/ppt/media/image.jpeg" Id="Rdd7f645244a14830" /><Relationship Type="http://schemas.openxmlformats.org/officeDocument/2006/relationships/notesSlide" Target="/ppt/notesSlides/notesSlide1.xml" Id="R2b16657f55294b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65a416f7ef4bf3" /><Relationship Type="http://schemas.openxmlformats.org/officeDocument/2006/relationships/notesSlide" Target="/ppt/notesSlides/notesSlide2.xml" Id="Rc7563855b4224b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99dfc25a804676" /><Relationship Type="http://schemas.openxmlformats.org/officeDocument/2006/relationships/notesSlide" Target="/ppt/notesSlides/notesSlide3.xml" Id="Rcaaca09e090744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6e512708cd4ed5" /><Relationship Type="http://schemas.openxmlformats.org/officeDocument/2006/relationships/notesSlide" Target="/ppt/notesSlides/notesSlide4.xml" Id="R8bbb89c5c0364c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94c1bc9fda4b16" /><Relationship Type="http://schemas.openxmlformats.org/officeDocument/2006/relationships/notesSlide" Target="/ppt/notesSlides/notesSlide5.xml" Id="R8aecd906da9140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29a288fb144a39" /><Relationship Type="http://schemas.openxmlformats.org/officeDocument/2006/relationships/notesSlide" Target="/ppt/notesSlides/notesSlide6.xml" Id="R7a24b7986cce4c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7191f17b9c4822" /><Relationship Type="http://schemas.openxmlformats.org/officeDocument/2006/relationships/notesSlide" Target="/ppt/notesSlides/notesSlide7.xml" Id="R0dc3468552da45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0f30b8bfe34a69" /><Relationship Type="http://schemas.openxmlformats.org/officeDocument/2006/relationships/notesSlide" Target="/ppt/notesSlides/notesSlide8.xml" Id="R4f8cce54967240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a2389c9ea04e13" /><Relationship Type="http://schemas.openxmlformats.org/officeDocument/2006/relationships/image" Target="/ppt/media/image2.jpeg" Id="R2969a809202947d4" /><Relationship Type="http://schemas.openxmlformats.org/officeDocument/2006/relationships/notesSlide" Target="/ppt/notesSlides/notesSlide9.xml" Id="Re4c413e8119f4f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9b5de6a6784ce1" /><Relationship Type="http://schemas.openxmlformats.org/officeDocument/2006/relationships/notesSlide" Target="/ppt/notesSlides/notesSlide10.xml" Id="R8b9a40c4b4094a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1aefa7fb9047bf" /><Relationship Type="http://schemas.openxmlformats.org/officeDocument/2006/relationships/notesSlide" Target="/ppt/notesSlides/notesSlide11.xml" Id="Rd18c8a74b77c41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5f3c1473d8f499d" /><Relationship Type="http://schemas.openxmlformats.org/officeDocument/2006/relationships/notesSlide" Target="/ppt/notesSlides/notesSlide12.xml" Id="R8f8b21a3722f4a46" /></Relationships>
</file>

<file path=ppt/slides/slide1.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34F6F7-1F4C-4271-BD45-7A9101B9271D}"/>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42DE26-1AB6-4848-8F50-237AB40139F2}"/>
              </a:ext>
            </a:extLst>
          </p:cNvPr>
          <p:cNvSpPr>
            <a:spLocks xmlns:a="http://schemas.openxmlformats.org/drawingml/2006/main" noGrp="1"/>
          </p:cNvSpPr>
          <p:nvPr/>
        </p:nvSpPr>
        <p:spPr>
          <a:xfrm xmlns:a="http://schemas.openxmlformats.org/drawingml/2006/main">
            <a:off x="723900" y="7810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1" i="0">
                <a:solidFill>
                  <a:srgbClr val="9BC4D6"/>
                </a:solidFill>
                <a:latin typeface="Aptos Mono"/>
                <a:ea typeface="Aptos Mono"/>
                <a:cs typeface="Aptos Mono"/>
              </a:defRPr>
            </a:pPr>
            <a:r>
              <a:rPr sz="1200" b="1" i="0">
                <a:solidFill>
                  <a:srgbClr val="9BC4D6"/>
                </a:solidFill>
                <a:latin typeface="Aptos Mono"/>
                <a:ea typeface="Aptos Mono"/>
                <a:cs typeface="Aptos Mono"/>
              </a:rPr>
              <a:t>DEVOPS COPILOT</a:t>
            </a:r>
          </a:p>
        </p:txBody>
      </p:sp>
      <p:sp>
        <p:nvSpPr>
          <p:cNvPr id="3" name="">
            <a:extLst xmlns:a="http://schemas.openxmlformats.org/drawingml/2006/main">
              <a:ext uri="{FF2B5EF4-FFF2-40B4-BE49-F238E27FC236}">
                <a16:creationId xmlns:a16="http://schemas.microsoft.com/office/drawing/2014/main" id="{0AA0F33D-910E-43A5-A86A-897BDE0865EA}"/>
              </a:ext>
            </a:extLst>
          </p:cNvPr>
          <p:cNvSpPr>
            <a:spLocks xmlns:a="http://schemas.openxmlformats.org/drawingml/2006/main" noGrp="1"/>
          </p:cNvSpPr>
          <p:nvPr/>
        </p:nvSpPr>
        <p:spPr>
          <a:xfrm xmlns:a="http://schemas.openxmlformats.org/drawingml/2006/main">
            <a:off x="723900" y="1257300"/>
            <a:ext cx="571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250"/>
          </a:bodyPr>
          <a:lstStyle xmlns:a="http://schemas.openxmlformats.org/drawingml/2006/main"/>
          <a:p xmlns:a="http://schemas.openxmlformats.org/drawingml/2006/main">
            <a:pPr algn="l">
              <a:defRPr sz="3600" b="1" i="0">
                <a:solidFill>
                  <a:srgbClr val="F0F4F7"/>
                </a:solidFill>
                <a:latin typeface="Aptos"/>
                <a:ea typeface="Aptos"/>
                <a:cs typeface="Aptos"/>
              </a:defRPr>
            </a:pPr>
            <a:r>
              <a:rPr sz="3600" b="1" i="0">
                <a:solidFill>
                  <a:srgbClr val="F0F4F7"/>
                </a:solidFill>
                <a:latin typeface="Aptos"/>
                <a:ea typeface="Aptos"/>
                <a:cs typeface="Aptos"/>
              </a:rPr>
              <a:t>Evidence-led incident response</a:t>
            </a:r>
          </a:p>
          <a:p xmlns:a="http://schemas.openxmlformats.org/drawingml/2006/main">
            <a:pPr algn="l">
              <a:defRPr sz="3600" b="1" i="0">
                <a:solidFill>
                  <a:srgbClr val="F0F4F7"/>
                </a:solidFill>
                <a:latin typeface="Aptos"/>
                <a:ea typeface="Aptos"/>
                <a:cs typeface="Aptos"/>
              </a:defRPr>
            </a:pPr>
            <a:r>
              <a:rPr sz="3600" b="1" i="0">
                <a:solidFill>
                  <a:srgbClr val="F0F4F7"/>
                </a:solidFill>
                <a:latin typeface="Aptos"/>
                <a:ea typeface="Aptos"/>
                <a:cs typeface="Aptos"/>
              </a:rPr>
              <a:t>with a human approval gate</a:t>
            </a:r>
          </a:p>
        </p:txBody>
      </p:sp>
      <p:sp>
        <p:nvSpPr>
          <p:cNvPr id="4" name="">
            <a:extLst xmlns:a="http://schemas.openxmlformats.org/drawingml/2006/main">
              <a:ext uri="{FF2B5EF4-FFF2-40B4-BE49-F238E27FC236}">
                <a16:creationId xmlns:a16="http://schemas.microsoft.com/office/drawing/2014/main" id="{F44DEE96-7BBF-4222-90A4-26146EBC8D49}"/>
              </a:ext>
            </a:extLst>
          </p:cNvPr>
          <p:cNvSpPr>
            <a:spLocks xmlns:a="http://schemas.openxmlformats.org/drawingml/2006/main" noGrp="1"/>
          </p:cNvSpPr>
          <p:nvPr/>
        </p:nvSpPr>
        <p:spPr>
          <a:xfrm xmlns:a="http://schemas.openxmlformats.org/drawingml/2006/main">
            <a:off x="723900" y="29146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48"/>
          </a:bodyPr>
          <a:lstStyle xmlns:a="http://schemas.openxmlformats.org/drawingml/2006/main"/>
          <a:p xmlns:a="http://schemas.openxmlformats.org/drawingml/2006/main">
            <a:pPr algn="l">
              <a:defRPr sz="1650" b="0" i="0">
                <a:solidFill>
                  <a:srgbClr val="9AA6B5"/>
                </a:solidFill>
                <a:latin typeface="Aptos"/>
                <a:ea typeface="Aptos"/>
                <a:cs typeface="Aptos"/>
              </a:defRPr>
            </a:pPr>
            <a:r>
              <a:rPr sz="1650" b="0" i="0">
                <a:solidFill>
                  <a:srgbClr val="9AA6B5"/>
                </a:solidFill>
                <a:latin typeface="Aptos"/>
                <a:ea typeface="Aptos"/>
                <a:cs typeface="Aptos"/>
              </a:rPr>
              <a:t>Investigate the signal, control the risk, verify the recovery.</a:t>
            </a:r>
          </a:p>
        </p:txBody>
      </p:sp>
      <p:sp>
        <p:nvSpPr>
          <p:cNvPr id="5" name="">
            <a:extLst xmlns:a="http://schemas.openxmlformats.org/drawingml/2006/main">
              <a:ext uri="{FF2B5EF4-FFF2-40B4-BE49-F238E27FC236}">
                <a16:creationId xmlns:a16="http://schemas.microsoft.com/office/drawing/2014/main" id="{BBBD9039-E8C7-40A3-B5DB-C6A0B4B8DC71}"/>
              </a:ext>
            </a:extLst>
          </p:cNvPr>
          <p:cNvSpPr>
            <a:spLocks xmlns:a="http://schemas.openxmlformats.org/drawingml/2006/main" noGrp="1"/>
          </p:cNvSpPr>
          <p:nvPr/>
        </p:nvSpPr>
        <p:spPr>
          <a:xfrm xmlns:a="http://schemas.openxmlformats.org/drawingml/2006/main">
            <a:off x="723900" y="54292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0" i="0">
                <a:solidFill>
                  <a:srgbClr val="657181"/>
                </a:solidFill>
                <a:latin typeface="Aptos Mono"/>
                <a:ea typeface="Aptos Mono"/>
                <a:cs typeface="Aptos Mono"/>
              </a:defRPr>
            </a:pPr>
            <a:r>
              <a:rPr sz="975" b="0" i="0">
                <a:solidFill>
                  <a:srgbClr val="657181"/>
                </a:solidFill>
                <a:latin typeface="Aptos Mono"/>
                <a:ea typeface="Aptos Mono"/>
                <a:cs typeface="Aptos Mono"/>
              </a:rPr>
              <a:t>Autonomous incident response  |  Hackathon 2026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d7f645244a14830"/>
          <a:stretch xmlns:a="http://schemas.openxmlformats.org/drawingml/2006/main"/>
        </p:blipFill>
        <p:spPr>
          <a:xfrm xmlns:a="http://schemas.openxmlformats.org/drawingml/2006/main">
            <a:off x="6667500" y="1814025"/>
            <a:ext cx="4762500" cy="2677500"/>
          </a:xfrm>
          <a:prstGeom xmlns:a="http://schemas.openxmlformats.org/drawingml/2006/main" prst="roundRect">
            <a:avLst>
              <a:gd name="adj" fmla="val 2667"/>
            </a:avLst>
          </a:prstGeom>
        </p:spPr>
      </p:pic>
      <p:sp>
        <p:nvSpPr>
          <p:cNvPr id="7" name="">
            <a:extLst xmlns:a="http://schemas.openxmlformats.org/drawingml/2006/main">
              <a:ext uri="{FF2B5EF4-FFF2-40B4-BE49-F238E27FC236}">
                <a16:creationId xmlns:a16="http://schemas.microsoft.com/office/drawing/2014/main" id="{B4C3BF2F-3F75-447D-81DE-C0E64168DBFB}"/>
              </a:ext>
            </a:extLst>
          </p:cNvPr>
          <p:cNvSpPr>
            <a:spLocks xmlns:a="http://schemas.openxmlformats.org/drawingml/2006/main" noGrp="1"/>
          </p:cNvSpPr>
          <p:nvPr/>
        </p:nvSpPr>
        <p:spPr>
          <a:xfrm xmlns:a="http://schemas.openxmlformats.org/drawingml/2006/main">
            <a:off x="6667500" y="5448300"/>
            <a:ext cx="285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0" i="0">
                <a:solidFill>
                  <a:srgbClr val="657181"/>
                </a:solidFill>
                <a:latin typeface="Aptos Mono"/>
                <a:ea typeface="Aptos Mono"/>
                <a:cs typeface="Aptos Mono"/>
              </a:defRPr>
            </a:pPr>
            <a:r>
              <a:rPr sz="750" b="0" i="0">
                <a:solidFill>
                  <a:srgbClr val="657181"/>
                </a:solidFill>
                <a:latin typeface="Aptos Mono"/>
                <a:ea typeface="Aptos Mono"/>
                <a:cs typeface="Aptos Mono"/>
              </a:rPr>
              <a:t>LIVE PRODUCT INTERFACE</a:t>
            </a:r>
          </a:p>
        </p:txBody>
      </p:sp>
    </p:spTree>
    <p:extLst>
      <p:ext uri="{BB962C8B-B14F-4D97-AF65-F5344CB8AC3E}">
        <p14:creationId xmlns:p14="http://schemas.microsoft.com/office/powerpoint/2010/main" val="2143999020"/>
      </p:ext>
    </p:extLst>
  </p:cSld>
</p:sld>
</file>

<file path=ppt/slides/slide2.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8BDC4FD-F741-4B51-B237-9EC6C8368848}"/>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F23662-4528-4884-91C4-C122D3E50F10}"/>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02</a:t>
            </a:r>
          </a:p>
        </p:txBody>
      </p:sp>
      <p:sp>
        <p:nvSpPr>
          <p:cNvPr id="3" name="">
            <a:extLst xmlns:a="http://schemas.openxmlformats.org/drawingml/2006/main">
              <a:ext uri="{FF2B5EF4-FFF2-40B4-BE49-F238E27FC236}">
                <a16:creationId xmlns:a16="http://schemas.microsoft.com/office/drawing/2014/main" id="{F921E51A-F3C8-4E73-839D-D8D886F83A9B}"/>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The incident-response problem</a:t>
            </a:r>
          </a:p>
        </p:txBody>
      </p:sp>
      <p:sp>
        <p:nvSpPr>
          <p:cNvPr id="4" name="">
            <a:extLst xmlns:a="http://schemas.openxmlformats.org/drawingml/2006/main">
              <a:ext uri="{FF2B5EF4-FFF2-40B4-BE49-F238E27FC236}">
                <a16:creationId xmlns:a16="http://schemas.microsoft.com/office/drawing/2014/main" id="{9F9FAD36-11A0-403F-9397-21A0F47F5F4A}"/>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Production incidents demand decisions before teams have a coherent picture.</a:t>
            </a:r>
          </a:p>
        </p:txBody>
      </p:sp>
      <p:sp>
        <p:nvSpPr>
          <p:cNvPr id="5" name="">
            <a:extLst xmlns:a="http://schemas.openxmlformats.org/drawingml/2006/main">
              <a:ext uri="{FF2B5EF4-FFF2-40B4-BE49-F238E27FC236}">
                <a16:creationId xmlns:a16="http://schemas.microsoft.com/office/drawing/2014/main" id="{68DA7622-EC3F-4B20-9F8F-1EB949A8B717}"/>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EF6EB0B9-ED13-449D-B8BF-A07E3A3C676F}"/>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02</a:t>
            </a:r>
          </a:p>
        </p:txBody>
      </p:sp>
      <p:sp>
        <p:nvSpPr>
          <p:cNvPr id="7" name="">
            <a:extLst xmlns:a="http://schemas.openxmlformats.org/drawingml/2006/main">
              <a:ext uri="{FF2B5EF4-FFF2-40B4-BE49-F238E27FC236}">
                <a16:creationId xmlns:a16="http://schemas.microsoft.com/office/drawing/2014/main" id="{673EAAE4-E661-4032-9C2B-16A8718A2CF9}"/>
              </a:ext>
            </a:extLst>
          </p:cNvPr>
          <p:cNvSpPr>
            <a:spLocks xmlns:a="http://schemas.openxmlformats.org/drawingml/2006/main" noGrp="1"/>
          </p:cNvSpPr>
          <p:nvPr/>
        </p:nvSpPr>
        <p:spPr>
          <a:xfrm xmlns:a="http://schemas.openxmlformats.org/drawingml/2006/main">
            <a:off x="819150" y="2000250"/>
            <a:ext cx="1409700" cy="400050"/>
          </a:xfrm>
          <a:prstGeom xmlns:a="http://schemas.openxmlformats.org/drawingml/2006/main" prst="roundRect">
            <a:avLst>
              <a:gd name="adj" fmla="val 28571"/>
            </a:avLst>
          </a:prstGeom>
          <a:solidFill xmlns:a="http://schemas.openxmlformats.org/drawingml/2006/main">
            <a:srgbClr val="131820"/>
          </a:solidFill>
          <a:ln xmlns:a="http://schemas.openxmlformats.org/drawingml/2006/main" w="9525">
            <a:solidFill>
              <a:srgbClr val="9BC4D6"/>
            </a:solidFill>
            <a:prstDash val="solid"/>
          </a:ln>
        </p:spPr>
      </p:sp>
      <p:sp>
        <p:nvSpPr>
          <p:cNvPr id="8" name="">
            <a:extLst xmlns:a="http://schemas.openxmlformats.org/drawingml/2006/main">
              <a:ext uri="{FF2B5EF4-FFF2-40B4-BE49-F238E27FC236}">
                <a16:creationId xmlns:a16="http://schemas.microsoft.com/office/drawing/2014/main" id="{CB089752-437B-487E-B8C4-BF599069B000}"/>
              </a:ext>
            </a:extLst>
          </p:cNvPr>
          <p:cNvSpPr>
            <a:spLocks xmlns:a="http://schemas.openxmlformats.org/drawingml/2006/main" noGrp="1"/>
          </p:cNvSpPr>
          <p:nvPr/>
        </p:nvSpPr>
        <p:spPr>
          <a:xfrm xmlns:a="http://schemas.openxmlformats.org/drawingml/2006/main">
            <a:off x="990600" y="21145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46667"/>
          </a:bodyPr>
          <a:lstStyle xmlns:a="http://schemas.openxmlformats.org/drawingml/2006/main"/>
          <a:p xmlns:a="http://schemas.openxmlformats.org/drawingml/2006/main">
            <a:pPr algn="l">
              <a:defRPr sz="1125" b="1" i="0">
                <a:solidFill>
                  <a:srgbClr val="9BC4D6"/>
                </a:solidFill>
                <a:latin typeface="Aptos"/>
                <a:ea typeface="Aptos"/>
                <a:cs typeface="Aptos"/>
              </a:defRPr>
            </a:pPr>
            <a:r>
              <a:rPr sz="1125" b="1" i="0">
                <a:solidFill>
                  <a:srgbClr val="9BC4D6"/>
                </a:solidFill>
                <a:latin typeface="Aptos"/>
                <a:ea typeface="Aptos"/>
                <a:cs typeface="Aptos"/>
              </a:rPr>
              <a:t>Health</a:t>
            </a:r>
          </a:p>
        </p:txBody>
      </p:sp>
      <p:sp>
        <p:nvSpPr>
          <p:cNvPr id="9" name="">
            <a:extLst xmlns:a="http://schemas.openxmlformats.org/drawingml/2006/main">
              <a:ext uri="{FF2B5EF4-FFF2-40B4-BE49-F238E27FC236}">
                <a16:creationId xmlns:a16="http://schemas.microsoft.com/office/drawing/2014/main" id="{FFD5FBE7-6B42-4774-854A-DBD32C0507C5}"/>
              </a:ext>
            </a:extLst>
          </p:cNvPr>
          <p:cNvSpPr>
            <a:spLocks xmlns:a="http://schemas.openxmlformats.org/drawingml/2006/main" noGrp="1"/>
          </p:cNvSpPr>
          <p:nvPr/>
        </p:nvSpPr>
        <p:spPr>
          <a:xfrm xmlns:a="http://schemas.openxmlformats.org/drawingml/2006/main">
            <a:off x="819150" y="2609850"/>
            <a:ext cx="1409700" cy="400050"/>
          </a:xfrm>
          <a:prstGeom xmlns:a="http://schemas.openxmlformats.org/drawingml/2006/main" prst="roundRect">
            <a:avLst>
              <a:gd name="adj" fmla="val 28571"/>
            </a:avLst>
          </a:prstGeom>
          <a:solidFill xmlns:a="http://schemas.openxmlformats.org/drawingml/2006/main">
            <a:srgbClr val="131820"/>
          </a:solidFill>
          <a:ln xmlns:a="http://schemas.openxmlformats.org/drawingml/2006/main" w="9525">
            <a:solidFill>
              <a:srgbClr val="D3AF70"/>
            </a:solidFill>
            <a:prstDash val="solid"/>
          </a:ln>
        </p:spPr>
      </p:sp>
      <p:sp>
        <p:nvSpPr>
          <p:cNvPr id="10" name="">
            <a:extLst xmlns:a="http://schemas.openxmlformats.org/drawingml/2006/main">
              <a:ext uri="{FF2B5EF4-FFF2-40B4-BE49-F238E27FC236}">
                <a16:creationId xmlns:a16="http://schemas.microsoft.com/office/drawing/2014/main" id="{F504195E-7333-435E-B46A-1A984E964969}"/>
              </a:ext>
            </a:extLst>
          </p:cNvPr>
          <p:cNvSpPr>
            <a:spLocks xmlns:a="http://schemas.openxmlformats.org/drawingml/2006/main" noGrp="1"/>
          </p:cNvSpPr>
          <p:nvPr/>
        </p:nvSpPr>
        <p:spPr>
          <a:xfrm xmlns:a="http://schemas.openxmlformats.org/drawingml/2006/main">
            <a:off x="990600" y="27241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46667"/>
          </a:bodyPr>
          <a:lstStyle xmlns:a="http://schemas.openxmlformats.org/drawingml/2006/main"/>
          <a:p xmlns:a="http://schemas.openxmlformats.org/drawingml/2006/main">
            <a:pPr algn="l">
              <a:defRPr sz="1125" b="1" i="0">
                <a:solidFill>
                  <a:srgbClr val="D3AF70"/>
                </a:solidFill>
                <a:latin typeface="Aptos"/>
                <a:ea typeface="Aptos"/>
                <a:cs typeface="Aptos"/>
              </a:defRPr>
            </a:pPr>
            <a:r>
              <a:rPr sz="1125" b="1" i="0">
                <a:solidFill>
                  <a:srgbClr val="D3AF70"/>
                </a:solidFill>
                <a:latin typeface="Aptos"/>
                <a:ea typeface="Aptos"/>
                <a:cs typeface="Aptos"/>
              </a:rPr>
              <a:t>Logs</a:t>
            </a:r>
          </a:p>
        </p:txBody>
      </p:sp>
      <p:sp>
        <p:nvSpPr>
          <p:cNvPr id="11" name="">
            <a:extLst xmlns:a="http://schemas.openxmlformats.org/drawingml/2006/main">
              <a:ext uri="{FF2B5EF4-FFF2-40B4-BE49-F238E27FC236}">
                <a16:creationId xmlns:a16="http://schemas.microsoft.com/office/drawing/2014/main" id="{F8593D4F-1469-4A60-88DD-34CFF7257DE7}"/>
              </a:ext>
            </a:extLst>
          </p:cNvPr>
          <p:cNvSpPr>
            <a:spLocks xmlns:a="http://schemas.openxmlformats.org/drawingml/2006/main" noGrp="1"/>
          </p:cNvSpPr>
          <p:nvPr/>
        </p:nvSpPr>
        <p:spPr>
          <a:xfrm xmlns:a="http://schemas.openxmlformats.org/drawingml/2006/main">
            <a:off x="819150" y="3219450"/>
            <a:ext cx="1409700" cy="400050"/>
          </a:xfrm>
          <a:prstGeom xmlns:a="http://schemas.openxmlformats.org/drawingml/2006/main" prst="roundRect">
            <a:avLst>
              <a:gd name="adj" fmla="val 28571"/>
            </a:avLst>
          </a:prstGeom>
          <a:solidFill xmlns:a="http://schemas.openxmlformats.org/drawingml/2006/main">
            <a:srgbClr val="131820"/>
          </a:solidFill>
          <a:ln xmlns:a="http://schemas.openxmlformats.org/drawingml/2006/main" w="9525">
            <a:solidFill>
              <a:srgbClr val="9B9FBE"/>
            </a:solidFill>
            <a:prstDash val="solid"/>
          </a:ln>
        </p:spPr>
      </p:sp>
      <p:sp>
        <p:nvSpPr>
          <p:cNvPr id="12" name="">
            <a:extLst xmlns:a="http://schemas.openxmlformats.org/drawingml/2006/main">
              <a:ext uri="{FF2B5EF4-FFF2-40B4-BE49-F238E27FC236}">
                <a16:creationId xmlns:a16="http://schemas.microsoft.com/office/drawing/2014/main" id="{9FA69C44-1D24-4A02-A717-32D893377528}"/>
              </a:ext>
            </a:extLst>
          </p:cNvPr>
          <p:cNvSpPr>
            <a:spLocks xmlns:a="http://schemas.openxmlformats.org/drawingml/2006/main" noGrp="1"/>
          </p:cNvSpPr>
          <p:nvPr/>
        </p:nvSpPr>
        <p:spPr>
          <a:xfrm xmlns:a="http://schemas.openxmlformats.org/drawingml/2006/main">
            <a:off x="990600" y="33337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46667"/>
          </a:bodyPr>
          <a:lstStyle xmlns:a="http://schemas.openxmlformats.org/drawingml/2006/main"/>
          <a:p xmlns:a="http://schemas.openxmlformats.org/drawingml/2006/main">
            <a:pPr algn="l">
              <a:defRPr sz="1125" b="1" i="0">
                <a:solidFill>
                  <a:srgbClr val="9B9FBE"/>
                </a:solidFill>
                <a:latin typeface="Aptos"/>
                <a:ea typeface="Aptos"/>
                <a:cs typeface="Aptos"/>
              </a:defRPr>
            </a:pPr>
            <a:r>
              <a:rPr sz="1125" b="1" i="0">
                <a:solidFill>
                  <a:srgbClr val="9B9FBE"/>
                </a:solidFill>
                <a:latin typeface="Aptos"/>
                <a:ea typeface="Aptos"/>
                <a:cs typeface="Aptos"/>
              </a:rPr>
              <a:t>Deploys</a:t>
            </a:r>
          </a:p>
        </p:txBody>
      </p:sp>
      <p:sp>
        <p:nvSpPr>
          <p:cNvPr id="13" name="">
            <a:extLst xmlns:a="http://schemas.openxmlformats.org/drawingml/2006/main">
              <a:ext uri="{FF2B5EF4-FFF2-40B4-BE49-F238E27FC236}">
                <a16:creationId xmlns:a16="http://schemas.microsoft.com/office/drawing/2014/main" id="{5A4536B3-AF70-4BE5-AFD4-C286E9FCFEE9}"/>
              </a:ext>
            </a:extLst>
          </p:cNvPr>
          <p:cNvSpPr>
            <a:spLocks xmlns:a="http://schemas.openxmlformats.org/drawingml/2006/main" noGrp="1"/>
          </p:cNvSpPr>
          <p:nvPr/>
        </p:nvSpPr>
        <p:spPr>
          <a:xfrm xmlns:a="http://schemas.openxmlformats.org/drawingml/2006/main">
            <a:off x="819150" y="3829050"/>
            <a:ext cx="1409700" cy="400050"/>
          </a:xfrm>
          <a:prstGeom xmlns:a="http://schemas.openxmlformats.org/drawingml/2006/main" prst="roundRect">
            <a:avLst>
              <a:gd name="adj" fmla="val 28571"/>
            </a:avLst>
          </a:prstGeom>
          <a:solidFill xmlns:a="http://schemas.openxmlformats.org/drawingml/2006/main">
            <a:srgbClr val="131820"/>
          </a:solidFill>
          <a:ln xmlns:a="http://schemas.openxmlformats.org/drawingml/2006/main" w="9525">
            <a:solidFill>
              <a:srgbClr val="C77984"/>
            </a:solidFill>
            <a:prstDash val="solid"/>
          </a:ln>
        </p:spPr>
      </p:sp>
      <p:sp>
        <p:nvSpPr>
          <p:cNvPr id="14" name="">
            <a:extLst xmlns:a="http://schemas.openxmlformats.org/drawingml/2006/main">
              <a:ext uri="{FF2B5EF4-FFF2-40B4-BE49-F238E27FC236}">
                <a16:creationId xmlns:a16="http://schemas.microsoft.com/office/drawing/2014/main" id="{10D915E0-35EA-4CED-BB5C-41ADEA7A8FB4}"/>
              </a:ext>
            </a:extLst>
          </p:cNvPr>
          <p:cNvSpPr>
            <a:spLocks xmlns:a="http://schemas.openxmlformats.org/drawingml/2006/main" noGrp="1"/>
          </p:cNvSpPr>
          <p:nvPr/>
        </p:nvSpPr>
        <p:spPr>
          <a:xfrm xmlns:a="http://schemas.openxmlformats.org/drawingml/2006/main">
            <a:off x="990600" y="39433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46667"/>
          </a:bodyPr>
          <a:lstStyle xmlns:a="http://schemas.openxmlformats.org/drawingml/2006/main"/>
          <a:p xmlns:a="http://schemas.openxmlformats.org/drawingml/2006/main">
            <a:pPr algn="l">
              <a:defRPr sz="1125" b="1" i="0">
                <a:solidFill>
                  <a:srgbClr val="C77984"/>
                </a:solidFill>
                <a:latin typeface="Aptos"/>
                <a:ea typeface="Aptos"/>
                <a:cs typeface="Aptos"/>
              </a:defRPr>
            </a:pPr>
            <a:r>
              <a:rPr sz="1125" b="1" i="0">
                <a:solidFill>
                  <a:srgbClr val="C77984"/>
                </a:solidFill>
                <a:latin typeface="Aptos"/>
                <a:ea typeface="Aptos"/>
                <a:cs typeface="Aptos"/>
              </a:rPr>
              <a:t>Config</a:t>
            </a:r>
          </a:p>
        </p:txBody>
      </p:sp>
      <p:sp>
        <p:nvSpPr>
          <p:cNvPr id="15" name="">
            <a:extLst xmlns:a="http://schemas.openxmlformats.org/drawingml/2006/main">
              <a:ext uri="{FF2B5EF4-FFF2-40B4-BE49-F238E27FC236}">
                <a16:creationId xmlns:a16="http://schemas.microsoft.com/office/drawing/2014/main" id="{1486393A-97D3-4D27-9030-901F90420CBD}"/>
              </a:ext>
            </a:extLst>
          </p:cNvPr>
          <p:cNvSpPr>
            <a:spLocks xmlns:a="http://schemas.openxmlformats.org/drawingml/2006/main" noGrp="1"/>
          </p:cNvSpPr>
          <p:nvPr/>
        </p:nvSpPr>
        <p:spPr>
          <a:xfrm xmlns:a="http://schemas.openxmlformats.org/drawingml/2006/main">
            <a:off x="819150" y="4438650"/>
            <a:ext cx="1409700" cy="400050"/>
          </a:xfrm>
          <a:prstGeom xmlns:a="http://schemas.openxmlformats.org/drawingml/2006/main" prst="roundRect">
            <a:avLst>
              <a:gd name="adj" fmla="val 28571"/>
            </a:avLst>
          </a:prstGeom>
          <a:solidFill xmlns:a="http://schemas.openxmlformats.org/drawingml/2006/main">
            <a:srgbClr val="131820"/>
          </a:solidFill>
          <a:ln xmlns:a="http://schemas.openxmlformats.org/drawingml/2006/main" w="9525">
            <a:solidFill>
              <a:srgbClr val="7DB89D"/>
            </a:solidFill>
            <a:prstDash val="solid"/>
          </a:ln>
        </p:spPr>
      </p:sp>
      <p:sp>
        <p:nvSpPr>
          <p:cNvPr id="16" name="">
            <a:extLst xmlns:a="http://schemas.openxmlformats.org/drawingml/2006/main">
              <a:ext uri="{FF2B5EF4-FFF2-40B4-BE49-F238E27FC236}">
                <a16:creationId xmlns:a16="http://schemas.microsoft.com/office/drawing/2014/main" id="{65BF088A-0599-4C98-A79A-2CF01BCF9668}"/>
              </a:ext>
            </a:extLst>
          </p:cNvPr>
          <p:cNvSpPr>
            <a:spLocks xmlns:a="http://schemas.openxmlformats.org/drawingml/2006/main" noGrp="1"/>
          </p:cNvSpPr>
          <p:nvPr/>
        </p:nvSpPr>
        <p:spPr>
          <a:xfrm xmlns:a="http://schemas.openxmlformats.org/drawingml/2006/main">
            <a:off x="990600" y="45529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46667"/>
          </a:bodyPr>
          <a:lstStyle xmlns:a="http://schemas.openxmlformats.org/drawingml/2006/main"/>
          <a:p xmlns:a="http://schemas.openxmlformats.org/drawingml/2006/main">
            <a:pPr algn="l">
              <a:defRPr sz="1125" b="1" i="0">
                <a:solidFill>
                  <a:srgbClr val="7DB89D"/>
                </a:solidFill>
                <a:latin typeface="Aptos"/>
                <a:ea typeface="Aptos"/>
                <a:cs typeface="Aptos"/>
              </a:defRPr>
            </a:pPr>
            <a:r>
              <a:rPr sz="1125" b="1" i="0">
                <a:solidFill>
                  <a:srgbClr val="7DB89D"/>
                </a:solidFill>
                <a:latin typeface="Aptos"/>
                <a:ea typeface="Aptos"/>
                <a:cs typeface="Aptos"/>
              </a:rPr>
              <a:t>History</a:t>
            </a:r>
          </a:p>
        </p:txBody>
      </p:sp>
      <p:sp>
        <p:nvSpPr>
          <p:cNvPr id="17" name="">
            <a:extLst xmlns:a="http://schemas.openxmlformats.org/drawingml/2006/main">
              <a:ext uri="{FF2B5EF4-FFF2-40B4-BE49-F238E27FC236}">
                <a16:creationId xmlns:a16="http://schemas.microsoft.com/office/drawing/2014/main" id="{DE9BF34E-D5C0-457C-BA81-1780C163CBF8}"/>
              </a:ext>
            </a:extLst>
          </p:cNvPr>
          <p:cNvSpPr>
            <a:spLocks xmlns:a="http://schemas.openxmlformats.org/drawingml/2006/main" noGrp="1"/>
          </p:cNvSpPr>
          <p:nvPr/>
        </p:nvSpPr>
        <p:spPr>
          <a:xfrm xmlns:a="http://schemas.openxmlformats.org/drawingml/2006/main">
            <a:off x="2238375" y="2200275"/>
            <a:ext cx="1285875"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1D84C37-E1B0-43D6-A293-E850AFC14FB8}"/>
              </a:ext>
            </a:extLst>
          </p:cNvPr>
          <p:cNvSpPr>
            <a:spLocks xmlns:a="http://schemas.openxmlformats.org/drawingml/2006/main" noGrp="1"/>
          </p:cNvSpPr>
          <p:nvPr/>
        </p:nvSpPr>
        <p:spPr>
          <a:xfrm xmlns:a="http://schemas.openxmlformats.org/drawingml/2006/main">
            <a:off x="2238375" y="2809875"/>
            <a:ext cx="1285875"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5422FC6-8C94-4C3C-8FB4-15B07896CA1F}"/>
              </a:ext>
            </a:extLst>
          </p:cNvPr>
          <p:cNvSpPr>
            <a:spLocks xmlns:a="http://schemas.openxmlformats.org/drawingml/2006/main" noGrp="1"/>
          </p:cNvSpPr>
          <p:nvPr/>
        </p:nvSpPr>
        <p:spPr>
          <a:xfrm xmlns:a="http://schemas.openxmlformats.org/drawingml/2006/main">
            <a:off x="2238375" y="3419475"/>
            <a:ext cx="1285875"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A29B878-0E11-4123-905E-1C803D4CA993}"/>
              </a:ext>
            </a:extLst>
          </p:cNvPr>
          <p:cNvSpPr>
            <a:spLocks xmlns:a="http://schemas.openxmlformats.org/drawingml/2006/main" noGrp="1"/>
          </p:cNvSpPr>
          <p:nvPr/>
        </p:nvSpPr>
        <p:spPr>
          <a:xfrm xmlns:a="http://schemas.openxmlformats.org/drawingml/2006/main">
            <a:off x="2238375" y="4029075"/>
            <a:ext cx="1285875"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C26B547-484B-42E2-8688-5A19C414AF90}"/>
              </a:ext>
            </a:extLst>
          </p:cNvPr>
          <p:cNvSpPr>
            <a:spLocks xmlns:a="http://schemas.openxmlformats.org/drawingml/2006/main" noGrp="1"/>
          </p:cNvSpPr>
          <p:nvPr/>
        </p:nvSpPr>
        <p:spPr>
          <a:xfrm xmlns:a="http://schemas.openxmlformats.org/drawingml/2006/main">
            <a:off x="2238375" y="4638675"/>
            <a:ext cx="1285875"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FF3D34A-8E7A-4F89-8BCB-119E6FD0D031}"/>
              </a:ext>
            </a:extLst>
          </p:cNvPr>
          <p:cNvSpPr>
            <a:spLocks xmlns:a="http://schemas.openxmlformats.org/drawingml/2006/main" noGrp="1"/>
          </p:cNvSpPr>
          <p:nvPr/>
        </p:nvSpPr>
        <p:spPr>
          <a:xfrm xmlns:a="http://schemas.openxmlformats.org/drawingml/2006/main">
            <a:off x="3524250" y="2343150"/>
            <a:ext cx="2571750" cy="1676400"/>
          </a:xfrm>
          <a:prstGeom xmlns:a="http://schemas.openxmlformats.org/drawingml/2006/main" prst="roundRect">
            <a:avLst>
              <a:gd name="adj" fmla="val 6818"/>
            </a:avLst>
          </a:prstGeom>
          <a:solidFill xmlns:a="http://schemas.openxmlformats.org/drawingml/2006/main">
            <a:srgbClr val="10151B"/>
          </a:solidFill>
          <a:ln xmlns:a="http://schemas.openxmlformats.org/drawingml/2006/main" w="9525">
            <a:solidFill>
              <a:srgbClr val="303A46"/>
            </a:solidFill>
            <a:prstDash val="solid"/>
          </a:ln>
        </p:spPr>
      </p:sp>
      <p:sp>
        <p:nvSpPr>
          <p:cNvPr id="23" name="">
            <a:extLst xmlns:a="http://schemas.openxmlformats.org/drawingml/2006/main">
              <a:ext uri="{FF2B5EF4-FFF2-40B4-BE49-F238E27FC236}">
                <a16:creationId xmlns:a16="http://schemas.microsoft.com/office/drawing/2014/main" id="{4C13531C-DE84-4ED9-AE47-228C3105174F}"/>
              </a:ext>
            </a:extLst>
          </p:cNvPr>
          <p:cNvSpPr>
            <a:spLocks xmlns:a="http://schemas.openxmlformats.org/drawingml/2006/main" noGrp="1"/>
          </p:cNvSpPr>
          <p:nvPr/>
        </p:nvSpPr>
        <p:spPr>
          <a:xfrm xmlns:a="http://schemas.openxmlformats.org/drawingml/2006/main">
            <a:off x="3857625" y="26670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833"/>
          </a:bodyPr>
          <a:lstStyle xmlns:a="http://schemas.openxmlformats.org/drawingml/2006/main"/>
          <a:p xmlns:a="http://schemas.openxmlformats.org/drawingml/2006/main">
            <a:pPr algn="ctr">
              <a:defRPr sz="1800" b="1" i="0">
                <a:solidFill>
                  <a:srgbClr val="F0F4F7"/>
                </a:solidFill>
                <a:latin typeface="Aptos"/>
                <a:ea typeface="Aptos"/>
                <a:cs typeface="Aptos"/>
              </a:defRPr>
            </a:pPr>
            <a:r>
              <a:rPr sz="1800" b="1" i="0">
                <a:solidFill>
                  <a:srgbClr val="F0F4F7"/>
                </a:solidFill>
                <a:latin typeface="Aptos"/>
                <a:ea typeface="Aptos"/>
                <a:cs typeface="Aptos"/>
              </a:rPr>
              <a:t>Fragmented evidence</a:t>
            </a:r>
          </a:p>
        </p:txBody>
      </p:sp>
      <p:sp>
        <p:nvSpPr>
          <p:cNvPr id="24" name="">
            <a:extLst xmlns:a="http://schemas.openxmlformats.org/drawingml/2006/main">
              <a:ext uri="{FF2B5EF4-FFF2-40B4-BE49-F238E27FC236}">
                <a16:creationId xmlns:a16="http://schemas.microsoft.com/office/drawing/2014/main" id="{8DA8C4E4-8BBB-4E98-8F25-B0780A0BAE32}"/>
              </a:ext>
            </a:extLst>
          </p:cNvPr>
          <p:cNvSpPr>
            <a:spLocks xmlns:a="http://schemas.openxmlformats.org/drawingml/2006/main" noGrp="1"/>
          </p:cNvSpPr>
          <p:nvPr/>
        </p:nvSpPr>
        <p:spPr>
          <a:xfrm xmlns:a="http://schemas.openxmlformats.org/drawingml/2006/main">
            <a:off x="3905250" y="314325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230"/>
          </a:bodyPr>
          <a:lstStyle xmlns:a="http://schemas.openxmlformats.org/drawingml/2006/main"/>
          <a:p xmlns:a="http://schemas.openxmlformats.org/drawingml/2006/main">
            <a:pPr algn="ctr">
              <a:defRPr sz="1125" b="0" i="0">
                <a:solidFill>
                  <a:srgbClr val="9AA6B5"/>
                </a:solidFill>
                <a:latin typeface="Aptos"/>
                <a:ea typeface="Aptos"/>
                <a:cs typeface="Aptos"/>
              </a:defRPr>
            </a:pPr>
            <a:r>
              <a:rPr sz="1125" b="0" i="0">
                <a:solidFill>
                  <a:srgbClr val="9AA6B5"/>
                </a:solidFill>
                <a:latin typeface="Aptos"/>
                <a:ea typeface="Aptos"/>
                <a:cs typeface="Aptos"/>
              </a:rPr>
              <a:t>Different tools tell partial stories.</a:t>
            </a:r>
          </a:p>
          <a:p xmlns:a="http://schemas.openxmlformats.org/drawingml/2006/main">
            <a:pPr algn="ctr">
              <a:defRPr sz="1125" b="0" i="0">
                <a:solidFill>
                  <a:srgbClr val="9AA6B5"/>
                </a:solidFill>
                <a:latin typeface="Aptos"/>
                <a:ea typeface="Aptos"/>
                <a:cs typeface="Aptos"/>
              </a:defRPr>
            </a:pPr>
            <a:r>
              <a:rPr sz="1125" b="0" i="0">
                <a:solidFill>
                  <a:srgbClr val="9AA6B5"/>
                </a:solidFill>
                <a:latin typeface="Aptos"/>
                <a:ea typeface="Aptos"/>
                <a:cs typeface="Aptos"/>
              </a:rPr>
              <a:t>Operators must correlate them under pressure.</a:t>
            </a:r>
          </a:p>
        </p:txBody>
      </p:sp>
      <p:sp>
        <p:nvSpPr>
          <p:cNvPr id="25" name="">
            <a:extLst xmlns:a="http://schemas.openxmlformats.org/drawingml/2006/main">
              <a:ext uri="{FF2B5EF4-FFF2-40B4-BE49-F238E27FC236}">
                <a16:creationId xmlns:a16="http://schemas.microsoft.com/office/drawing/2014/main" id="{FB7A6C03-B46C-4E37-9436-7D52A5368D32}"/>
              </a:ext>
            </a:extLst>
          </p:cNvPr>
          <p:cNvSpPr>
            <a:spLocks xmlns:a="http://schemas.openxmlformats.org/drawingml/2006/main" noGrp="1"/>
          </p:cNvSpPr>
          <p:nvPr/>
        </p:nvSpPr>
        <p:spPr>
          <a:xfrm xmlns:a="http://schemas.openxmlformats.org/drawingml/2006/main">
            <a:off x="6096000" y="3181350"/>
            <a:ext cx="1143000"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32C44C1-2DD9-4EEF-B5F8-1571A3B06588}"/>
              </a:ext>
            </a:extLst>
          </p:cNvPr>
          <p:cNvSpPr>
            <a:spLocks xmlns:a="http://schemas.openxmlformats.org/drawingml/2006/main" noGrp="1"/>
          </p:cNvSpPr>
          <p:nvPr/>
        </p:nvSpPr>
        <p:spPr>
          <a:xfrm xmlns:a="http://schemas.openxmlformats.org/drawingml/2006/main">
            <a:off x="7239000" y="2343150"/>
            <a:ext cx="3429000" cy="1676400"/>
          </a:xfrm>
          <a:prstGeom xmlns:a="http://schemas.openxmlformats.org/drawingml/2006/main" prst="roundRect">
            <a:avLst>
              <a:gd name="adj" fmla="val 6818"/>
            </a:avLst>
          </a:prstGeom>
          <a:solidFill xmlns:a="http://schemas.openxmlformats.org/drawingml/2006/main">
            <a:srgbClr val="1B1518"/>
          </a:solidFill>
          <a:ln xmlns:a="http://schemas.openxmlformats.org/drawingml/2006/main" w="9525">
            <a:solidFill>
              <a:srgbClr val="C77984"/>
            </a:solidFill>
            <a:prstDash val="solid"/>
          </a:ln>
        </p:spPr>
      </p:sp>
      <p:sp>
        <p:nvSpPr>
          <p:cNvPr id="27" name="">
            <a:extLst xmlns:a="http://schemas.openxmlformats.org/drawingml/2006/main">
              <a:ext uri="{FF2B5EF4-FFF2-40B4-BE49-F238E27FC236}">
                <a16:creationId xmlns:a16="http://schemas.microsoft.com/office/drawing/2014/main" id="{372C264B-86E0-4229-8105-447FB37CCF4E}"/>
              </a:ext>
            </a:extLst>
          </p:cNvPr>
          <p:cNvSpPr>
            <a:spLocks xmlns:a="http://schemas.openxmlformats.org/drawingml/2006/main" noGrp="1"/>
          </p:cNvSpPr>
          <p:nvPr/>
        </p:nvSpPr>
        <p:spPr>
          <a:xfrm xmlns:a="http://schemas.openxmlformats.org/drawingml/2006/main">
            <a:off x="7620000" y="26670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833"/>
          </a:bodyPr>
          <a:lstStyle xmlns:a="http://schemas.openxmlformats.org/drawingml/2006/main"/>
          <a:p xmlns:a="http://schemas.openxmlformats.org/drawingml/2006/main">
            <a:pPr algn="ctr">
              <a:defRPr sz="1800" b="1" i="0">
                <a:solidFill>
                  <a:srgbClr val="C77984"/>
                </a:solidFill>
                <a:latin typeface="Aptos"/>
                <a:ea typeface="Aptos"/>
                <a:cs typeface="Aptos"/>
              </a:defRPr>
            </a:pPr>
            <a:r>
              <a:rPr sz="1800" b="1" i="0">
                <a:solidFill>
                  <a:srgbClr val="C77984"/>
                </a:solidFill>
                <a:latin typeface="Aptos"/>
                <a:ea typeface="Aptos"/>
                <a:cs typeface="Aptos"/>
              </a:rPr>
              <a:t>Risky decision window</a:t>
            </a:r>
          </a:p>
        </p:txBody>
      </p:sp>
      <p:sp>
        <p:nvSpPr>
          <p:cNvPr id="28" name="">
            <a:extLst xmlns:a="http://schemas.openxmlformats.org/drawingml/2006/main">
              <a:ext uri="{FF2B5EF4-FFF2-40B4-BE49-F238E27FC236}">
                <a16:creationId xmlns:a16="http://schemas.microsoft.com/office/drawing/2014/main" id="{DD3D12AC-34F8-4A74-832B-D70EAED066D9}"/>
              </a:ext>
            </a:extLst>
          </p:cNvPr>
          <p:cNvSpPr>
            <a:spLocks xmlns:a="http://schemas.openxmlformats.org/drawingml/2006/main" noGrp="1"/>
          </p:cNvSpPr>
          <p:nvPr/>
        </p:nvSpPr>
        <p:spPr>
          <a:xfrm xmlns:a="http://schemas.openxmlformats.org/drawingml/2006/main">
            <a:off x="7715250" y="31432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97"/>
          </a:bodyPr>
          <a:lstStyle xmlns:a="http://schemas.openxmlformats.org/drawingml/2006/main"/>
          <a:p xmlns:a="http://schemas.openxmlformats.org/drawingml/2006/main">
            <a:pPr algn="ctr">
              <a:defRPr sz="1125" b="0" i="0">
                <a:solidFill>
                  <a:srgbClr val="9AA6B5"/>
                </a:solidFill>
                <a:latin typeface="Aptos"/>
                <a:ea typeface="Aptos"/>
                <a:cs typeface="Aptos"/>
              </a:defRPr>
            </a:pPr>
            <a:r>
              <a:rPr sz="1125" b="0" i="0">
                <a:solidFill>
                  <a:srgbClr val="9AA6B5"/>
                </a:solidFill>
                <a:latin typeface="Aptos"/>
                <a:ea typeface="Aptos"/>
                <a:cs typeface="Aptos"/>
              </a:rPr>
              <a:t>A fast remediation can reduce impact.</a:t>
            </a:r>
          </a:p>
          <a:p xmlns:a="http://schemas.openxmlformats.org/drawingml/2006/main">
            <a:pPr algn="ctr">
              <a:defRPr sz="1125" b="0" i="0">
                <a:solidFill>
                  <a:srgbClr val="9AA6B5"/>
                </a:solidFill>
                <a:latin typeface="Aptos"/>
                <a:ea typeface="Aptos"/>
                <a:cs typeface="Aptos"/>
              </a:defRPr>
            </a:pPr>
            <a:r>
              <a:rPr sz="1125" b="0" i="0">
                <a:solidFill>
                  <a:srgbClr val="9AA6B5"/>
                </a:solidFill>
                <a:latin typeface="Aptos"/>
                <a:ea typeface="Aptos"/>
                <a:cs typeface="Aptos"/>
              </a:rPr>
              <a:t>An unsafe remediation can deepen it.</a:t>
            </a:r>
          </a:p>
        </p:txBody>
      </p:sp>
    </p:spTree>
    <p:extLst>
      <p:ext uri="{BB962C8B-B14F-4D97-AF65-F5344CB8AC3E}">
        <p14:creationId xmlns:p14="http://schemas.microsoft.com/office/powerpoint/2010/main" val="882501498"/>
      </p:ext>
    </p:extLst>
  </p:cSld>
</p:sld>
</file>

<file path=ppt/slides/slide3.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5E55FB4-2ABF-446A-9F60-B370394D3922}"/>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D27090-BA55-4D14-AF0F-944E081AC292}"/>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03</a:t>
            </a:r>
          </a:p>
        </p:txBody>
      </p:sp>
      <p:sp>
        <p:nvSpPr>
          <p:cNvPr id="3" name="">
            <a:extLst xmlns:a="http://schemas.openxmlformats.org/drawingml/2006/main">
              <a:ext uri="{FF2B5EF4-FFF2-40B4-BE49-F238E27FC236}">
                <a16:creationId xmlns:a16="http://schemas.microsoft.com/office/drawing/2014/main" id="{9D93ABBF-1A58-461B-A298-21B606527063}"/>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Where existing approaches fall short</a:t>
            </a:r>
          </a:p>
        </p:txBody>
      </p:sp>
      <p:sp>
        <p:nvSpPr>
          <p:cNvPr id="4" name="">
            <a:extLst xmlns:a="http://schemas.openxmlformats.org/drawingml/2006/main">
              <a:ext uri="{FF2B5EF4-FFF2-40B4-BE49-F238E27FC236}">
                <a16:creationId xmlns:a16="http://schemas.microsoft.com/office/drawing/2014/main" id="{E36406B5-4C53-417D-92DE-9CCF40412DA3}"/>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Alerting platforms, ticket workflows, and generic AI assistants each solve only part of the response loop.</a:t>
            </a:r>
          </a:p>
        </p:txBody>
      </p:sp>
      <p:sp>
        <p:nvSpPr>
          <p:cNvPr id="5" name="">
            <a:extLst xmlns:a="http://schemas.openxmlformats.org/drawingml/2006/main">
              <a:ext uri="{FF2B5EF4-FFF2-40B4-BE49-F238E27FC236}">
                <a16:creationId xmlns:a16="http://schemas.microsoft.com/office/drawing/2014/main" id="{17C68483-4C32-4A47-A620-EB3DE8C21A73}"/>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785B5146-2EA1-476C-AC3F-72A111A9C741}"/>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03</a:t>
            </a:r>
          </a:p>
        </p:txBody>
      </p:sp>
      <p:sp>
        <p:nvSpPr>
          <p:cNvPr id="7" name="">
            <a:extLst xmlns:a="http://schemas.openxmlformats.org/drawingml/2006/main">
              <a:ext uri="{FF2B5EF4-FFF2-40B4-BE49-F238E27FC236}">
                <a16:creationId xmlns:a16="http://schemas.microsoft.com/office/drawing/2014/main" id="{05125985-F233-4133-9840-998C921EA592}"/>
              </a:ext>
            </a:extLst>
          </p:cNvPr>
          <p:cNvSpPr>
            <a:spLocks xmlns:a="http://schemas.openxmlformats.org/drawingml/2006/main" noGrp="1"/>
          </p:cNvSpPr>
          <p:nvPr/>
        </p:nvSpPr>
        <p:spPr>
          <a:xfrm xmlns:a="http://schemas.openxmlformats.org/drawingml/2006/main">
            <a:off x="857250" y="2190750"/>
            <a:ext cx="2857500" cy="2476500"/>
          </a:xfrm>
          <a:prstGeom xmlns:a="http://schemas.openxmlformats.org/drawingml/2006/main" prst="roundRect">
            <a:avLst>
              <a:gd name="adj" fmla="val 4615"/>
            </a:avLst>
          </a:prstGeom>
          <a:solidFill xmlns:a="http://schemas.openxmlformats.org/drawingml/2006/main">
            <a:srgbClr val="131820"/>
          </a:solidFill>
          <a:ln xmlns:a="http://schemas.openxmlformats.org/drawingml/2006/main" w="9525">
            <a:solidFill>
              <a:srgbClr val="303A46"/>
            </a:solidFill>
            <a:prstDash val="solid"/>
          </a:ln>
        </p:spPr>
      </p:sp>
      <p:sp>
        <p:nvSpPr>
          <p:cNvPr id="8" name="">
            <a:extLst xmlns:a="http://schemas.openxmlformats.org/drawingml/2006/main">
              <a:ext uri="{FF2B5EF4-FFF2-40B4-BE49-F238E27FC236}">
                <a16:creationId xmlns:a16="http://schemas.microsoft.com/office/drawing/2014/main" id="{F8C39E36-5DB7-45AE-B40C-118A3530AC8D}"/>
              </a:ext>
            </a:extLst>
          </p:cNvPr>
          <p:cNvSpPr>
            <a:spLocks xmlns:a="http://schemas.openxmlformats.org/drawingml/2006/main" noGrp="1"/>
          </p:cNvSpPr>
          <p:nvPr/>
        </p:nvSpPr>
        <p:spPr>
          <a:xfrm xmlns:a="http://schemas.openxmlformats.org/drawingml/2006/main">
            <a:off x="1085850" y="24574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defRPr sz="1575" b="1" i="0">
                <a:solidFill>
                  <a:srgbClr val="9BC4D6"/>
                </a:solidFill>
                <a:latin typeface="Aptos"/>
                <a:ea typeface="Aptos"/>
                <a:cs typeface="Aptos"/>
              </a:defRPr>
            </a:pPr>
            <a:r>
              <a:rPr sz="1575" b="1" i="0">
                <a:solidFill>
                  <a:srgbClr val="9BC4D6"/>
                </a:solidFill>
                <a:latin typeface="Aptos"/>
                <a:ea typeface="Aptos"/>
                <a:cs typeface="Aptos"/>
              </a:rPr>
              <a:t>Alerting &amp; dashboards</a:t>
            </a:r>
          </a:p>
        </p:txBody>
      </p:sp>
      <p:sp>
        <p:nvSpPr>
          <p:cNvPr id="9" name="">
            <a:extLst xmlns:a="http://schemas.openxmlformats.org/drawingml/2006/main">
              <a:ext uri="{FF2B5EF4-FFF2-40B4-BE49-F238E27FC236}">
                <a16:creationId xmlns:a16="http://schemas.microsoft.com/office/drawing/2014/main" id="{CF1DD1AA-4CA5-4230-B31F-295C99E3B910}"/>
              </a:ext>
            </a:extLst>
          </p:cNvPr>
          <p:cNvSpPr>
            <a:spLocks xmlns:a="http://schemas.openxmlformats.org/drawingml/2006/main" noGrp="1"/>
          </p:cNvSpPr>
          <p:nvPr/>
        </p:nvSpPr>
        <p:spPr>
          <a:xfrm xmlns:a="http://schemas.openxmlformats.org/drawingml/2006/main">
            <a:off x="1085850" y="2933700"/>
            <a:ext cx="2343150" cy="1905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FEBC861-CE94-4996-8D67-BEE661F72A26}"/>
              </a:ext>
            </a:extLst>
          </p:cNvPr>
          <p:cNvSpPr>
            <a:spLocks xmlns:a="http://schemas.openxmlformats.org/drawingml/2006/main" noGrp="1"/>
          </p:cNvSpPr>
          <p:nvPr/>
        </p:nvSpPr>
        <p:spPr>
          <a:xfrm xmlns:a="http://schemas.openxmlformats.org/drawingml/2006/main">
            <a:off x="1085850" y="3200400"/>
            <a:ext cx="23050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Detect symptoms</a:t>
            </a:r>
          </a:p>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Surface metrics</a:t>
            </a:r>
          </a:p>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Hand investigation to people</a:t>
            </a:r>
          </a:p>
        </p:txBody>
      </p:sp>
      <p:sp>
        <p:nvSpPr>
          <p:cNvPr id="11" name="">
            <a:extLst xmlns:a="http://schemas.openxmlformats.org/drawingml/2006/main">
              <a:ext uri="{FF2B5EF4-FFF2-40B4-BE49-F238E27FC236}">
                <a16:creationId xmlns:a16="http://schemas.microsoft.com/office/drawing/2014/main" id="{6B8E690D-8671-417D-B2BB-120E2396CC28}"/>
              </a:ext>
            </a:extLst>
          </p:cNvPr>
          <p:cNvSpPr>
            <a:spLocks xmlns:a="http://schemas.openxmlformats.org/drawingml/2006/main" noGrp="1"/>
          </p:cNvSpPr>
          <p:nvPr/>
        </p:nvSpPr>
        <p:spPr>
          <a:xfrm xmlns:a="http://schemas.openxmlformats.org/drawingml/2006/main">
            <a:off x="4381500" y="2190750"/>
            <a:ext cx="2857500" cy="2476500"/>
          </a:xfrm>
          <a:prstGeom xmlns:a="http://schemas.openxmlformats.org/drawingml/2006/main" prst="roundRect">
            <a:avLst>
              <a:gd name="adj" fmla="val 4615"/>
            </a:avLst>
          </a:prstGeom>
          <a:solidFill xmlns:a="http://schemas.openxmlformats.org/drawingml/2006/main">
            <a:srgbClr val="131820"/>
          </a:solidFill>
          <a:ln xmlns:a="http://schemas.openxmlformats.org/drawingml/2006/main" w="9525">
            <a:solidFill>
              <a:srgbClr val="303A46"/>
            </a:solidFill>
            <a:prstDash val="solid"/>
          </a:ln>
        </p:spPr>
      </p:sp>
      <p:sp>
        <p:nvSpPr>
          <p:cNvPr id="12" name="">
            <a:extLst xmlns:a="http://schemas.openxmlformats.org/drawingml/2006/main">
              <a:ext uri="{FF2B5EF4-FFF2-40B4-BE49-F238E27FC236}">
                <a16:creationId xmlns:a16="http://schemas.microsoft.com/office/drawing/2014/main" id="{1587691E-E576-4CEA-AEC0-4336378CA1E5}"/>
              </a:ext>
            </a:extLst>
          </p:cNvPr>
          <p:cNvSpPr>
            <a:spLocks xmlns:a="http://schemas.openxmlformats.org/drawingml/2006/main" noGrp="1"/>
          </p:cNvSpPr>
          <p:nvPr/>
        </p:nvSpPr>
        <p:spPr>
          <a:xfrm xmlns:a="http://schemas.openxmlformats.org/drawingml/2006/main">
            <a:off x="4610100" y="24574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defRPr sz="1575" b="1" i="0">
                <a:solidFill>
                  <a:srgbClr val="D3AF70"/>
                </a:solidFill>
                <a:latin typeface="Aptos"/>
                <a:ea typeface="Aptos"/>
                <a:cs typeface="Aptos"/>
              </a:defRPr>
            </a:pPr>
            <a:r>
              <a:rPr sz="1575" b="1" i="0">
                <a:solidFill>
                  <a:srgbClr val="D3AF70"/>
                </a:solidFill>
                <a:latin typeface="Aptos"/>
                <a:ea typeface="Aptos"/>
                <a:cs typeface="Aptos"/>
              </a:rPr>
              <a:t>Runbooks &amp; tickets</a:t>
            </a:r>
          </a:p>
        </p:txBody>
      </p:sp>
      <p:sp>
        <p:nvSpPr>
          <p:cNvPr id="13" name="">
            <a:extLst xmlns:a="http://schemas.openxmlformats.org/drawingml/2006/main">
              <a:ext uri="{FF2B5EF4-FFF2-40B4-BE49-F238E27FC236}">
                <a16:creationId xmlns:a16="http://schemas.microsoft.com/office/drawing/2014/main" id="{B1132278-C86B-483A-86ED-3D43EEE21863}"/>
              </a:ext>
            </a:extLst>
          </p:cNvPr>
          <p:cNvSpPr>
            <a:spLocks xmlns:a="http://schemas.openxmlformats.org/drawingml/2006/main" noGrp="1"/>
          </p:cNvSpPr>
          <p:nvPr/>
        </p:nvSpPr>
        <p:spPr>
          <a:xfrm xmlns:a="http://schemas.openxmlformats.org/drawingml/2006/main">
            <a:off x="4610100" y="2933700"/>
            <a:ext cx="2343150" cy="19050"/>
          </a:xfrm>
          <a:prstGeom xmlns:a="http://schemas.openxmlformats.org/drawingml/2006/main" prst="rect">
            <a:avLst/>
          </a:prstGeom>
          <a:solidFill xmlns:a="http://schemas.openxmlformats.org/drawingml/2006/main">
            <a:srgbClr val="D3AF7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136209F-425C-426B-92B5-4805F24F95FF}"/>
              </a:ext>
            </a:extLst>
          </p:cNvPr>
          <p:cNvSpPr>
            <a:spLocks xmlns:a="http://schemas.openxmlformats.org/drawingml/2006/main" noGrp="1"/>
          </p:cNvSpPr>
          <p:nvPr/>
        </p:nvSpPr>
        <p:spPr>
          <a:xfrm xmlns:a="http://schemas.openxmlformats.org/drawingml/2006/main">
            <a:off x="4610100" y="3200400"/>
            <a:ext cx="23050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Standardize process</a:t>
            </a:r>
          </a:p>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Preserve history</a:t>
            </a:r>
          </a:p>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Rely on manual correlation</a:t>
            </a:r>
          </a:p>
        </p:txBody>
      </p:sp>
      <p:sp>
        <p:nvSpPr>
          <p:cNvPr id="15" name="">
            <a:extLst xmlns:a="http://schemas.openxmlformats.org/drawingml/2006/main">
              <a:ext uri="{FF2B5EF4-FFF2-40B4-BE49-F238E27FC236}">
                <a16:creationId xmlns:a16="http://schemas.microsoft.com/office/drawing/2014/main" id="{C962CED7-6280-4378-B29B-25C1A3645A3C}"/>
              </a:ext>
            </a:extLst>
          </p:cNvPr>
          <p:cNvSpPr>
            <a:spLocks xmlns:a="http://schemas.openxmlformats.org/drawingml/2006/main" noGrp="1"/>
          </p:cNvSpPr>
          <p:nvPr/>
        </p:nvSpPr>
        <p:spPr>
          <a:xfrm xmlns:a="http://schemas.openxmlformats.org/drawingml/2006/main">
            <a:off x="7905750" y="2190750"/>
            <a:ext cx="2857500" cy="2476500"/>
          </a:xfrm>
          <a:prstGeom xmlns:a="http://schemas.openxmlformats.org/drawingml/2006/main" prst="roundRect">
            <a:avLst>
              <a:gd name="adj" fmla="val 4615"/>
            </a:avLst>
          </a:prstGeom>
          <a:solidFill xmlns:a="http://schemas.openxmlformats.org/drawingml/2006/main">
            <a:srgbClr val="131820"/>
          </a:solidFill>
          <a:ln xmlns:a="http://schemas.openxmlformats.org/drawingml/2006/main" w="9525">
            <a:solidFill>
              <a:srgbClr val="303A46"/>
            </a:solidFill>
            <a:prstDash val="solid"/>
          </a:ln>
        </p:spPr>
      </p:sp>
      <p:sp>
        <p:nvSpPr>
          <p:cNvPr id="16" name="">
            <a:extLst xmlns:a="http://schemas.openxmlformats.org/drawingml/2006/main">
              <a:ext uri="{FF2B5EF4-FFF2-40B4-BE49-F238E27FC236}">
                <a16:creationId xmlns:a16="http://schemas.microsoft.com/office/drawing/2014/main" id="{0C380D41-3651-42AB-BA13-0A8D5DD04FC3}"/>
              </a:ext>
            </a:extLst>
          </p:cNvPr>
          <p:cNvSpPr>
            <a:spLocks xmlns:a="http://schemas.openxmlformats.org/drawingml/2006/main" noGrp="1"/>
          </p:cNvSpPr>
          <p:nvPr/>
        </p:nvSpPr>
        <p:spPr>
          <a:xfrm xmlns:a="http://schemas.openxmlformats.org/drawingml/2006/main">
            <a:off x="8134350" y="24574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defRPr sz="1575" b="1" i="0">
                <a:solidFill>
                  <a:srgbClr val="9B9FBE"/>
                </a:solidFill>
                <a:latin typeface="Aptos"/>
                <a:ea typeface="Aptos"/>
                <a:cs typeface="Aptos"/>
              </a:defRPr>
            </a:pPr>
            <a:r>
              <a:rPr sz="1575" b="1" i="0">
                <a:solidFill>
                  <a:srgbClr val="9B9FBE"/>
                </a:solidFill>
                <a:latin typeface="Aptos"/>
                <a:ea typeface="Aptos"/>
                <a:cs typeface="Aptos"/>
              </a:rPr>
              <a:t>Generic AI assistants</a:t>
            </a:r>
          </a:p>
        </p:txBody>
      </p:sp>
      <p:sp>
        <p:nvSpPr>
          <p:cNvPr id="17" name="">
            <a:extLst xmlns:a="http://schemas.openxmlformats.org/drawingml/2006/main">
              <a:ext uri="{FF2B5EF4-FFF2-40B4-BE49-F238E27FC236}">
                <a16:creationId xmlns:a16="http://schemas.microsoft.com/office/drawing/2014/main" id="{9C9E542F-D6B0-4DE5-9765-1C52D5557B4D}"/>
              </a:ext>
            </a:extLst>
          </p:cNvPr>
          <p:cNvSpPr>
            <a:spLocks xmlns:a="http://schemas.openxmlformats.org/drawingml/2006/main" noGrp="1"/>
          </p:cNvSpPr>
          <p:nvPr/>
        </p:nvSpPr>
        <p:spPr>
          <a:xfrm xmlns:a="http://schemas.openxmlformats.org/drawingml/2006/main">
            <a:off x="8134350" y="2933700"/>
            <a:ext cx="2343150" cy="19050"/>
          </a:xfrm>
          <a:prstGeom xmlns:a="http://schemas.openxmlformats.org/drawingml/2006/main" prst="rect">
            <a:avLst/>
          </a:prstGeom>
          <a:solidFill xmlns:a="http://schemas.openxmlformats.org/drawingml/2006/main">
            <a:srgbClr val="9B9FB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54FF42B-A428-4E33-B31F-999C64002AB3}"/>
              </a:ext>
            </a:extLst>
          </p:cNvPr>
          <p:cNvSpPr>
            <a:spLocks xmlns:a="http://schemas.openxmlformats.org/drawingml/2006/main" noGrp="1"/>
          </p:cNvSpPr>
          <p:nvPr/>
        </p:nvSpPr>
        <p:spPr>
          <a:xfrm xmlns:a="http://schemas.openxmlformats.org/drawingml/2006/main">
            <a:off x="8134350" y="3200400"/>
            <a:ext cx="23050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Summarize evidence</a:t>
            </a:r>
          </a:p>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Suggest next steps</a:t>
            </a:r>
          </a:p>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Lack an authorization boundary</a:t>
            </a:r>
          </a:p>
        </p:txBody>
      </p:sp>
      <p:sp>
        <p:nvSpPr>
          <p:cNvPr id="19" name="">
            <a:extLst xmlns:a="http://schemas.openxmlformats.org/drawingml/2006/main">
              <a:ext uri="{FF2B5EF4-FFF2-40B4-BE49-F238E27FC236}">
                <a16:creationId xmlns:a16="http://schemas.microsoft.com/office/drawing/2014/main" id="{C7C4BC8F-90AB-4605-937D-8C11A7E3BEBA}"/>
              </a:ext>
            </a:extLst>
          </p:cNvPr>
          <p:cNvSpPr>
            <a:spLocks xmlns:a="http://schemas.openxmlformats.org/drawingml/2006/main" noGrp="1"/>
          </p:cNvSpPr>
          <p:nvPr/>
        </p:nvSpPr>
        <p:spPr>
          <a:xfrm xmlns:a="http://schemas.openxmlformats.org/drawingml/2006/main">
            <a:off x="1104900" y="5219700"/>
            <a:ext cx="998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922"/>
          </a:bodyPr>
          <a:lstStyle xmlns:a="http://schemas.openxmlformats.org/drawingml/2006/main"/>
          <a:p xmlns:a="http://schemas.openxmlformats.org/drawingml/2006/main">
            <a:pPr algn="ctr">
              <a:defRPr sz="1500" b="1" i="0">
                <a:solidFill>
                  <a:srgbClr val="F0F4F7"/>
                </a:solidFill>
                <a:latin typeface="Aptos"/>
                <a:ea typeface="Aptos"/>
                <a:cs typeface="Aptos"/>
              </a:defRPr>
            </a:pPr>
            <a:r>
              <a:rPr sz="1500" b="1" i="0">
                <a:solidFill>
                  <a:srgbClr val="F0F4F7"/>
                </a:solidFill>
                <a:latin typeface="Aptos"/>
                <a:ea typeface="Aptos"/>
                <a:cs typeface="Aptos"/>
              </a:rPr>
              <a:t>Missing layer: one evidence trail that connects diagnosis, risk policy, human approval, remediation, and proof of recovery.</a:t>
            </a:r>
          </a:p>
        </p:txBody>
      </p:sp>
    </p:spTree>
    <p:extLst>
      <p:ext uri="{BB962C8B-B14F-4D97-AF65-F5344CB8AC3E}">
        <p14:creationId xmlns:p14="http://schemas.microsoft.com/office/powerpoint/2010/main" val="1479332134"/>
      </p:ext>
    </p:extLst>
  </p:cSld>
</p:sld>
</file>

<file path=ppt/slides/slide4.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F590810-A95B-4086-B9B8-2FFB3484384E}"/>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E05B03-054D-4286-946D-657D7B365372}"/>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04</a:t>
            </a:r>
          </a:p>
        </p:txBody>
      </p:sp>
      <p:sp>
        <p:nvSpPr>
          <p:cNvPr id="3" name="">
            <a:extLst xmlns:a="http://schemas.openxmlformats.org/drawingml/2006/main">
              <a:ext uri="{FF2B5EF4-FFF2-40B4-BE49-F238E27FC236}">
                <a16:creationId xmlns:a16="http://schemas.microsoft.com/office/drawing/2014/main" id="{44D32448-05F5-427F-A096-20AF96EC2DA5}"/>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A controlled response loop</a:t>
            </a:r>
          </a:p>
        </p:txBody>
      </p:sp>
      <p:sp>
        <p:nvSpPr>
          <p:cNvPr id="4" name="">
            <a:extLst xmlns:a="http://schemas.openxmlformats.org/drawingml/2006/main">
              <a:ext uri="{FF2B5EF4-FFF2-40B4-BE49-F238E27FC236}">
                <a16:creationId xmlns:a16="http://schemas.microsoft.com/office/drawing/2014/main" id="{B213AFBA-92D2-4250-A628-D2477C858B1F}"/>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DevOps Copilot combines evidence collection with a deterministic approval boundary.</a:t>
            </a:r>
          </a:p>
        </p:txBody>
      </p:sp>
      <p:sp>
        <p:nvSpPr>
          <p:cNvPr id="5" name="">
            <a:extLst xmlns:a="http://schemas.openxmlformats.org/drawingml/2006/main">
              <a:ext uri="{FF2B5EF4-FFF2-40B4-BE49-F238E27FC236}">
                <a16:creationId xmlns:a16="http://schemas.microsoft.com/office/drawing/2014/main" id="{9A9D065C-E1B8-41CB-9BD6-3215C2E136BF}"/>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9959B2BE-4177-4158-8E1B-090DBA8F2954}"/>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04</a:t>
            </a:r>
          </a:p>
        </p:txBody>
      </p:sp>
      <p:sp>
        <p:nvSpPr>
          <p:cNvPr id="7" name="">
            <a:extLst xmlns:a="http://schemas.openxmlformats.org/drawingml/2006/main">
              <a:ext uri="{FF2B5EF4-FFF2-40B4-BE49-F238E27FC236}">
                <a16:creationId xmlns:a16="http://schemas.microsoft.com/office/drawing/2014/main" id="{B5826A14-2018-492B-846F-4243E5DF7E99}"/>
              </a:ext>
            </a:extLst>
          </p:cNvPr>
          <p:cNvSpPr>
            <a:spLocks xmlns:a="http://schemas.openxmlformats.org/drawingml/2006/main" noGrp="1"/>
          </p:cNvSpPr>
          <p:nvPr/>
        </p:nvSpPr>
        <p:spPr>
          <a:xfrm xmlns:a="http://schemas.openxmlformats.org/drawingml/2006/main">
            <a:off x="1000125" y="2286000"/>
            <a:ext cx="2571750" cy="2000250"/>
          </a:xfrm>
          <a:prstGeom xmlns:a="http://schemas.openxmlformats.org/drawingml/2006/main" prst="roundRect">
            <a:avLst>
              <a:gd name="adj" fmla="val 5714"/>
            </a:avLst>
          </a:prstGeom>
          <a:solidFill xmlns:a="http://schemas.openxmlformats.org/drawingml/2006/main">
            <a:srgbClr val="131820"/>
          </a:solidFill>
          <a:ln xmlns:a="http://schemas.openxmlformats.org/drawingml/2006/main" w="9525">
            <a:solidFill>
              <a:srgbClr val="9BC4D6"/>
            </a:solidFill>
            <a:prstDash val="solid"/>
          </a:ln>
        </p:spPr>
      </p:sp>
      <p:sp>
        <p:nvSpPr>
          <p:cNvPr id="8" name="">
            <a:extLst xmlns:a="http://schemas.openxmlformats.org/drawingml/2006/main">
              <a:ext uri="{FF2B5EF4-FFF2-40B4-BE49-F238E27FC236}">
                <a16:creationId xmlns:a16="http://schemas.microsoft.com/office/drawing/2014/main" id="{F391FDC1-2B1C-4664-98E2-2D08AD974A39}"/>
              </a:ext>
            </a:extLst>
          </p:cNvPr>
          <p:cNvSpPr>
            <a:spLocks xmlns:a="http://schemas.openxmlformats.org/drawingml/2006/main" noGrp="1"/>
          </p:cNvSpPr>
          <p:nvPr/>
        </p:nvSpPr>
        <p:spPr>
          <a:xfrm xmlns:a="http://schemas.openxmlformats.org/drawingml/2006/main">
            <a:off x="1247775" y="25336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01</a:t>
            </a:r>
          </a:p>
        </p:txBody>
      </p:sp>
      <p:sp>
        <p:nvSpPr>
          <p:cNvPr id="9" name="">
            <a:extLst xmlns:a="http://schemas.openxmlformats.org/drawingml/2006/main">
              <a:ext uri="{FF2B5EF4-FFF2-40B4-BE49-F238E27FC236}">
                <a16:creationId xmlns:a16="http://schemas.microsoft.com/office/drawing/2014/main" id="{F034BDA8-E019-454C-B281-18E0469CEEAA}"/>
              </a:ext>
            </a:extLst>
          </p:cNvPr>
          <p:cNvSpPr>
            <a:spLocks xmlns:a="http://schemas.openxmlformats.org/drawingml/2006/main" noGrp="1"/>
          </p:cNvSpPr>
          <p:nvPr/>
        </p:nvSpPr>
        <p:spPr>
          <a:xfrm xmlns:a="http://schemas.openxmlformats.org/drawingml/2006/main">
            <a:off x="1247775" y="29146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lgn="l">
              <a:defRPr sz="1650" b="1" i="0">
                <a:solidFill>
                  <a:srgbClr val="F0F4F7"/>
                </a:solidFill>
                <a:latin typeface="Aptos"/>
                <a:ea typeface="Aptos"/>
                <a:cs typeface="Aptos"/>
              </a:defRPr>
            </a:pPr>
            <a:r>
              <a:rPr sz="1650" b="1" i="0">
                <a:solidFill>
                  <a:srgbClr val="F0F4F7"/>
                </a:solidFill>
                <a:latin typeface="Aptos"/>
                <a:ea typeface="Aptos"/>
                <a:cs typeface="Aptos"/>
              </a:rPr>
              <a:t>AI investigates</a:t>
            </a:r>
          </a:p>
        </p:txBody>
      </p:sp>
      <p:sp>
        <p:nvSpPr>
          <p:cNvPr id="10" name="">
            <a:extLst xmlns:a="http://schemas.openxmlformats.org/drawingml/2006/main">
              <a:ext uri="{FF2B5EF4-FFF2-40B4-BE49-F238E27FC236}">
                <a16:creationId xmlns:a16="http://schemas.microsoft.com/office/drawing/2014/main" id="{20EB414A-BEFA-411D-9879-931A6B58A8A5}"/>
              </a:ext>
            </a:extLst>
          </p:cNvPr>
          <p:cNvSpPr>
            <a:spLocks xmlns:a="http://schemas.openxmlformats.org/drawingml/2006/main" noGrp="1"/>
          </p:cNvSpPr>
          <p:nvPr/>
        </p:nvSpPr>
        <p:spPr>
          <a:xfrm xmlns:a="http://schemas.openxmlformats.org/drawingml/2006/main">
            <a:off x="1247775" y="3333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9AA6B5"/>
                </a:solidFill>
                <a:latin typeface="Aptos"/>
                <a:ea typeface="Aptos"/>
                <a:cs typeface="Aptos"/>
              </a:defRPr>
            </a:pPr>
            <a:r>
              <a:rPr sz="1125" b="0" i="0">
                <a:solidFill>
                  <a:srgbClr val="9AA6B5"/>
                </a:solidFill>
                <a:latin typeface="Aptos"/>
                <a:ea typeface="Aptos"/>
                <a:cs typeface="Aptos"/>
              </a:rPr>
              <a:t>Read-only tools collect and correlate evidence.</a:t>
            </a:r>
          </a:p>
        </p:txBody>
      </p:sp>
      <p:sp>
        <p:nvSpPr>
          <p:cNvPr id="11" name="">
            <a:extLst xmlns:a="http://schemas.openxmlformats.org/drawingml/2006/main">
              <a:ext uri="{FF2B5EF4-FFF2-40B4-BE49-F238E27FC236}">
                <a16:creationId xmlns:a16="http://schemas.microsoft.com/office/drawing/2014/main" id="{91043351-6F9D-47FA-97B1-A9DD0E425012}"/>
              </a:ext>
            </a:extLst>
          </p:cNvPr>
          <p:cNvSpPr>
            <a:spLocks xmlns:a="http://schemas.openxmlformats.org/drawingml/2006/main" noGrp="1"/>
          </p:cNvSpPr>
          <p:nvPr/>
        </p:nvSpPr>
        <p:spPr>
          <a:xfrm xmlns:a="http://schemas.openxmlformats.org/drawingml/2006/main">
            <a:off x="3571875" y="3276600"/>
            <a:ext cx="571500"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7B5822D-2EA8-4309-B547-8DEC1CEAC679}"/>
              </a:ext>
            </a:extLst>
          </p:cNvPr>
          <p:cNvSpPr>
            <a:spLocks xmlns:a="http://schemas.openxmlformats.org/drawingml/2006/main" noGrp="1"/>
          </p:cNvSpPr>
          <p:nvPr/>
        </p:nvSpPr>
        <p:spPr>
          <a:xfrm xmlns:a="http://schemas.openxmlformats.org/drawingml/2006/main">
            <a:off x="4143375" y="2286000"/>
            <a:ext cx="2571750" cy="2000250"/>
          </a:xfrm>
          <a:prstGeom xmlns:a="http://schemas.openxmlformats.org/drawingml/2006/main" prst="roundRect">
            <a:avLst>
              <a:gd name="adj" fmla="val 5714"/>
            </a:avLst>
          </a:prstGeom>
          <a:solidFill xmlns:a="http://schemas.openxmlformats.org/drawingml/2006/main">
            <a:srgbClr val="131820"/>
          </a:solidFill>
          <a:ln xmlns:a="http://schemas.openxmlformats.org/drawingml/2006/main" w="9525">
            <a:solidFill>
              <a:srgbClr val="D3AF70"/>
            </a:solidFill>
            <a:prstDash val="solid"/>
          </a:ln>
        </p:spPr>
      </p:sp>
      <p:sp>
        <p:nvSpPr>
          <p:cNvPr id="13" name="">
            <a:extLst xmlns:a="http://schemas.openxmlformats.org/drawingml/2006/main">
              <a:ext uri="{FF2B5EF4-FFF2-40B4-BE49-F238E27FC236}">
                <a16:creationId xmlns:a16="http://schemas.microsoft.com/office/drawing/2014/main" id="{6D0CEC39-2068-4993-8F45-BBD8909BB8F3}"/>
              </a:ext>
            </a:extLst>
          </p:cNvPr>
          <p:cNvSpPr>
            <a:spLocks xmlns:a="http://schemas.openxmlformats.org/drawingml/2006/main" noGrp="1"/>
          </p:cNvSpPr>
          <p:nvPr/>
        </p:nvSpPr>
        <p:spPr>
          <a:xfrm xmlns:a="http://schemas.openxmlformats.org/drawingml/2006/main">
            <a:off x="4391025" y="25336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D3AF70"/>
                </a:solidFill>
                <a:latin typeface="Aptos Mono"/>
                <a:ea typeface="Aptos Mono"/>
                <a:cs typeface="Aptos Mono"/>
              </a:defRPr>
            </a:pPr>
            <a:r>
              <a:rPr sz="900" b="1" i="0">
                <a:solidFill>
                  <a:srgbClr val="D3AF70"/>
                </a:solidFill>
                <a:latin typeface="Aptos Mono"/>
                <a:ea typeface="Aptos Mono"/>
                <a:cs typeface="Aptos Mono"/>
              </a:rPr>
              <a:t>02</a:t>
            </a:r>
          </a:p>
        </p:txBody>
      </p:sp>
      <p:sp>
        <p:nvSpPr>
          <p:cNvPr id="14" name="">
            <a:extLst xmlns:a="http://schemas.openxmlformats.org/drawingml/2006/main">
              <a:ext uri="{FF2B5EF4-FFF2-40B4-BE49-F238E27FC236}">
                <a16:creationId xmlns:a16="http://schemas.microsoft.com/office/drawing/2014/main" id="{37A9C889-B560-4184-B923-9C093D872D56}"/>
              </a:ext>
            </a:extLst>
          </p:cNvPr>
          <p:cNvSpPr>
            <a:spLocks xmlns:a="http://schemas.openxmlformats.org/drawingml/2006/main" noGrp="1"/>
          </p:cNvSpPr>
          <p:nvPr/>
        </p:nvSpPr>
        <p:spPr>
          <a:xfrm xmlns:a="http://schemas.openxmlformats.org/drawingml/2006/main">
            <a:off x="4391025" y="29146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lgn="l">
              <a:defRPr sz="1650" b="1" i="0">
                <a:solidFill>
                  <a:srgbClr val="F0F4F7"/>
                </a:solidFill>
                <a:latin typeface="Aptos"/>
                <a:ea typeface="Aptos"/>
                <a:cs typeface="Aptos"/>
              </a:defRPr>
            </a:pPr>
            <a:r>
              <a:rPr sz="1650" b="1" i="0">
                <a:solidFill>
                  <a:srgbClr val="F0F4F7"/>
                </a:solidFill>
                <a:latin typeface="Aptos"/>
                <a:ea typeface="Aptos"/>
                <a:cs typeface="Aptos"/>
              </a:rPr>
              <a:t>Policy evaluates</a:t>
            </a:r>
          </a:p>
        </p:txBody>
      </p:sp>
      <p:sp>
        <p:nvSpPr>
          <p:cNvPr id="15" name="">
            <a:extLst xmlns:a="http://schemas.openxmlformats.org/drawingml/2006/main">
              <a:ext uri="{FF2B5EF4-FFF2-40B4-BE49-F238E27FC236}">
                <a16:creationId xmlns:a16="http://schemas.microsoft.com/office/drawing/2014/main" id="{D8B27FA7-EF12-4534-9885-7963EF6E4E62}"/>
              </a:ext>
            </a:extLst>
          </p:cNvPr>
          <p:cNvSpPr>
            <a:spLocks xmlns:a="http://schemas.openxmlformats.org/drawingml/2006/main" noGrp="1"/>
          </p:cNvSpPr>
          <p:nvPr/>
        </p:nvSpPr>
        <p:spPr>
          <a:xfrm xmlns:a="http://schemas.openxmlformats.org/drawingml/2006/main">
            <a:off x="4391025" y="3333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l">
              <a:defRPr sz="1125" b="0" i="0">
                <a:solidFill>
                  <a:srgbClr val="9AA6B5"/>
                </a:solidFill>
                <a:latin typeface="Aptos"/>
                <a:ea typeface="Aptos"/>
                <a:cs typeface="Aptos"/>
              </a:defRPr>
            </a:pPr>
            <a:r>
              <a:rPr sz="1125" b="0" i="0">
                <a:solidFill>
                  <a:srgbClr val="9AA6B5"/>
                </a:solidFill>
                <a:latin typeface="Aptos"/>
                <a:ea typeface="Aptos"/>
                <a:cs typeface="Aptos"/>
              </a:rPr>
              <a:t>Confidence and risk gates decide whether action is eligible.</a:t>
            </a:r>
          </a:p>
        </p:txBody>
      </p:sp>
      <p:sp>
        <p:nvSpPr>
          <p:cNvPr id="16" name="">
            <a:extLst xmlns:a="http://schemas.openxmlformats.org/drawingml/2006/main">
              <a:ext uri="{FF2B5EF4-FFF2-40B4-BE49-F238E27FC236}">
                <a16:creationId xmlns:a16="http://schemas.microsoft.com/office/drawing/2014/main" id="{3E9AD44D-1954-4217-93B4-6C647B5D45DA}"/>
              </a:ext>
            </a:extLst>
          </p:cNvPr>
          <p:cNvSpPr>
            <a:spLocks xmlns:a="http://schemas.openxmlformats.org/drawingml/2006/main" noGrp="1"/>
          </p:cNvSpPr>
          <p:nvPr/>
        </p:nvSpPr>
        <p:spPr>
          <a:xfrm xmlns:a="http://schemas.openxmlformats.org/drawingml/2006/main">
            <a:off x="6715125" y="3276600"/>
            <a:ext cx="571500"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31826FB-2712-49D1-BF31-E531978E7B15}"/>
              </a:ext>
            </a:extLst>
          </p:cNvPr>
          <p:cNvSpPr>
            <a:spLocks xmlns:a="http://schemas.openxmlformats.org/drawingml/2006/main" noGrp="1"/>
          </p:cNvSpPr>
          <p:nvPr/>
        </p:nvSpPr>
        <p:spPr>
          <a:xfrm xmlns:a="http://schemas.openxmlformats.org/drawingml/2006/main">
            <a:off x="7286625" y="2286000"/>
            <a:ext cx="2571750" cy="2000250"/>
          </a:xfrm>
          <a:prstGeom xmlns:a="http://schemas.openxmlformats.org/drawingml/2006/main" prst="roundRect">
            <a:avLst>
              <a:gd name="adj" fmla="val 5714"/>
            </a:avLst>
          </a:prstGeom>
          <a:solidFill xmlns:a="http://schemas.openxmlformats.org/drawingml/2006/main">
            <a:srgbClr val="131820"/>
          </a:solidFill>
          <a:ln xmlns:a="http://schemas.openxmlformats.org/drawingml/2006/main" w="9525">
            <a:solidFill>
              <a:srgbClr val="7DB89D"/>
            </a:solidFill>
            <a:prstDash val="solid"/>
          </a:ln>
        </p:spPr>
      </p:sp>
      <p:sp>
        <p:nvSpPr>
          <p:cNvPr id="18" name="">
            <a:extLst xmlns:a="http://schemas.openxmlformats.org/drawingml/2006/main">
              <a:ext uri="{FF2B5EF4-FFF2-40B4-BE49-F238E27FC236}">
                <a16:creationId xmlns:a16="http://schemas.microsoft.com/office/drawing/2014/main" id="{3C2C7304-4063-47A4-B7CB-95A02E6B1B73}"/>
              </a:ext>
            </a:extLst>
          </p:cNvPr>
          <p:cNvSpPr>
            <a:spLocks xmlns:a="http://schemas.openxmlformats.org/drawingml/2006/main" noGrp="1"/>
          </p:cNvSpPr>
          <p:nvPr/>
        </p:nvSpPr>
        <p:spPr>
          <a:xfrm xmlns:a="http://schemas.openxmlformats.org/drawingml/2006/main">
            <a:off x="7534275" y="25336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7DB89D"/>
                </a:solidFill>
                <a:latin typeface="Aptos Mono"/>
                <a:ea typeface="Aptos Mono"/>
                <a:cs typeface="Aptos Mono"/>
              </a:defRPr>
            </a:pPr>
            <a:r>
              <a:rPr sz="900" b="1" i="0">
                <a:solidFill>
                  <a:srgbClr val="7DB89D"/>
                </a:solidFill>
                <a:latin typeface="Aptos Mono"/>
                <a:ea typeface="Aptos Mono"/>
                <a:cs typeface="Aptos Mono"/>
              </a:rPr>
              <a:t>03</a:t>
            </a:r>
          </a:p>
        </p:txBody>
      </p:sp>
      <p:sp>
        <p:nvSpPr>
          <p:cNvPr id="19" name="">
            <a:extLst xmlns:a="http://schemas.openxmlformats.org/drawingml/2006/main">
              <a:ext uri="{FF2B5EF4-FFF2-40B4-BE49-F238E27FC236}">
                <a16:creationId xmlns:a16="http://schemas.microsoft.com/office/drawing/2014/main" id="{EF7DB3B4-CB17-43B2-A522-6E2498768470}"/>
              </a:ext>
            </a:extLst>
          </p:cNvPr>
          <p:cNvSpPr>
            <a:spLocks xmlns:a="http://schemas.openxmlformats.org/drawingml/2006/main" noGrp="1"/>
          </p:cNvSpPr>
          <p:nvPr/>
        </p:nvSpPr>
        <p:spPr>
          <a:xfrm xmlns:a="http://schemas.openxmlformats.org/drawingml/2006/main">
            <a:off x="7534275" y="29146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lgn="l">
              <a:defRPr sz="1650" b="1" i="0">
                <a:solidFill>
                  <a:srgbClr val="F0F4F7"/>
                </a:solidFill>
                <a:latin typeface="Aptos"/>
                <a:ea typeface="Aptos"/>
                <a:cs typeface="Aptos"/>
              </a:defRPr>
            </a:pPr>
            <a:r>
              <a:rPr sz="1650" b="1" i="0">
                <a:solidFill>
                  <a:srgbClr val="F0F4F7"/>
                </a:solidFill>
                <a:latin typeface="Aptos"/>
                <a:ea typeface="Aptos"/>
                <a:cs typeface="Aptos"/>
              </a:rPr>
              <a:t>People authorize</a:t>
            </a:r>
          </a:p>
        </p:txBody>
      </p:sp>
      <p:sp>
        <p:nvSpPr>
          <p:cNvPr id="20" name="">
            <a:extLst xmlns:a="http://schemas.openxmlformats.org/drawingml/2006/main">
              <a:ext uri="{FF2B5EF4-FFF2-40B4-BE49-F238E27FC236}">
                <a16:creationId xmlns:a16="http://schemas.microsoft.com/office/drawing/2014/main" id="{E1E7E576-AF13-4275-9284-C307D3EE8A54}"/>
              </a:ext>
            </a:extLst>
          </p:cNvPr>
          <p:cNvSpPr>
            <a:spLocks xmlns:a="http://schemas.openxmlformats.org/drawingml/2006/main" noGrp="1"/>
          </p:cNvSpPr>
          <p:nvPr/>
        </p:nvSpPr>
        <p:spPr>
          <a:xfrm xmlns:a="http://schemas.openxmlformats.org/drawingml/2006/main">
            <a:off x="7534275" y="3333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l">
              <a:defRPr sz="1125" b="0" i="0">
                <a:solidFill>
                  <a:srgbClr val="9AA6B5"/>
                </a:solidFill>
                <a:latin typeface="Aptos"/>
                <a:ea typeface="Aptos"/>
                <a:cs typeface="Aptos"/>
              </a:defRPr>
            </a:pPr>
            <a:r>
              <a:rPr sz="1125" b="0" i="0">
                <a:solidFill>
                  <a:srgbClr val="9AA6B5"/>
                </a:solidFill>
                <a:latin typeface="Aptos"/>
                <a:ea typeface="Aptos"/>
                <a:cs typeface="Aptos"/>
              </a:rPr>
              <a:t>Qualified operators approve, reject, or follow a manual runbook.</a:t>
            </a:r>
          </a:p>
        </p:txBody>
      </p:sp>
      <p:sp>
        <p:nvSpPr>
          <p:cNvPr id="21" name="">
            <a:extLst xmlns:a="http://schemas.openxmlformats.org/drawingml/2006/main">
              <a:ext uri="{FF2B5EF4-FFF2-40B4-BE49-F238E27FC236}">
                <a16:creationId xmlns:a16="http://schemas.microsoft.com/office/drawing/2014/main" id="{2A04DB2B-5A45-401D-91F4-F96B48EB78FB}"/>
              </a:ext>
            </a:extLst>
          </p:cNvPr>
          <p:cNvSpPr>
            <a:spLocks xmlns:a="http://schemas.openxmlformats.org/drawingml/2006/main" noGrp="1"/>
          </p:cNvSpPr>
          <p:nvPr/>
        </p:nvSpPr>
        <p:spPr>
          <a:xfrm xmlns:a="http://schemas.openxmlformats.org/drawingml/2006/main">
            <a:off x="1619250" y="50482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ctr">
              <a:defRPr sz="1650" b="1" i="0">
                <a:solidFill>
                  <a:srgbClr val="F0F4F7"/>
                </a:solidFill>
                <a:latin typeface="Aptos"/>
                <a:ea typeface="Aptos"/>
                <a:cs typeface="Aptos"/>
              </a:defRPr>
            </a:pPr>
            <a:r>
              <a:rPr sz="1650" b="1" i="0">
                <a:solidFill>
                  <a:srgbClr val="F0F4F7"/>
                </a:solidFill>
                <a:latin typeface="Aptos"/>
                <a:ea typeface="Aptos"/>
                <a:cs typeface="Aptos"/>
              </a:rPr>
              <a:t>Verified recovery and an append-only audit record close the loop.</a:t>
            </a:r>
          </a:p>
        </p:txBody>
      </p:sp>
    </p:spTree>
    <p:extLst>
      <p:ext uri="{BB962C8B-B14F-4D97-AF65-F5344CB8AC3E}">
        <p14:creationId xmlns:p14="http://schemas.microsoft.com/office/powerpoint/2010/main" val="1751830280"/>
      </p:ext>
    </p:extLst>
  </p:cSld>
</p:sld>
</file>

<file path=ppt/slides/slide5.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15357D6-780A-4198-99E6-C9A7FEB5B72C}"/>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8D086B-E5AE-4758-98FA-8B2B2AE42595}"/>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05</a:t>
            </a:r>
          </a:p>
        </p:txBody>
      </p:sp>
      <p:sp>
        <p:nvSpPr>
          <p:cNvPr id="3" name="">
            <a:extLst xmlns:a="http://schemas.openxmlformats.org/drawingml/2006/main">
              <a:ext uri="{FF2B5EF4-FFF2-40B4-BE49-F238E27FC236}">
                <a16:creationId xmlns:a16="http://schemas.microsoft.com/office/drawing/2014/main" id="{743A9ABE-F287-4185-9F82-2F74D74202AE}"/>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What the product delivers</a:t>
            </a:r>
          </a:p>
        </p:txBody>
      </p:sp>
      <p:sp>
        <p:nvSpPr>
          <p:cNvPr id="4" name="">
            <a:extLst xmlns:a="http://schemas.openxmlformats.org/drawingml/2006/main">
              <a:ext uri="{FF2B5EF4-FFF2-40B4-BE49-F238E27FC236}">
                <a16:creationId xmlns:a16="http://schemas.microsoft.com/office/drawing/2014/main" id="{09B9D27D-D44E-4175-9520-1A8E99B98165}"/>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The demo focuses on a complete response loop rather than a single AI summary.</a:t>
            </a:r>
          </a:p>
        </p:txBody>
      </p:sp>
      <p:sp>
        <p:nvSpPr>
          <p:cNvPr id="5" name="">
            <a:extLst xmlns:a="http://schemas.openxmlformats.org/drawingml/2006/main">
              <a:ext uri="{FF2B5EF4-FFF2-40B4-BE49-F238E27FC236}">
                <a16:creationId xmlns:a16="http://schemas.microsoft.com/office/drawing/2014/main" id="{23E8B84E-D29D-4DAD-AAE4-BFBE372B59CF}"/>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622525B3-4340-42D8-8F54-7A805EAE27FA}"/>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05</a:t>
            </a:r>
          </a:p>
        </p:txBody>
      </p:sp>
      <p:sp>
        <p:nvSpPr>
          <p:cNvPr id="7" name="">
            <a:extLst xmlns:a="http://schemas.openxmlformats.org/drawingml/2006/main">
              <a:ext uri="{FF2B5EF4-FFF2-40B4-BE49-F238E27FC236}">
                <a16:creationId xmlns:a16="http://schemas.microsoft.com/office/drawing/2014/main" id="{2C74FBE8-C5E8-4ACC-BDC9-C42C551CE3D0}"/>
              </a:ext>
            </a:extLst>
          </p:cNvPr>
          <p:cNvSpPr>
            <a:spLocks xmlns:a="http://schemas.openxmlformats.org/drawingml/2006/main" noGrp="1"/>
          </p:cNvSpPr>
          <p:nvPr/>
        </p:nvSpPr>
        <p:spPr>
          <a:xfrm xmlns:a="http://schemas.openxmlformats.org/drawingml/2006/main">
            <a:off x="895350" y="195262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l">
              <a:defRPr sz="825" b="1" i="0">
                <a:solidFill>
                  <a:srgbClr val="9BC4D6"/>
                </a:solidFill>
                <a:latin typeface="Aptos Mono"/>
                <a:ea typeface="Aptos Mono"/>
                <a:cs typeface="Aptos Mono"/>
              </a:defRPr>
            </a:pPr>
            <a:r>
              <a:rPr sz="825" b="1" i="0">
                <a:solidFill>
                  <a:srgbClr val="9BC4D6"/>
                </a:solidFill>
                <a:latin typeface="Aptos Mono"/>
                <a:ea typeface="Aptos Mono"/>
                <a:cs typeface="Aptos Mono"/>
              </a:rPr>
              <a:t>01</a:t>
            </a:r>
          </a:p>
        </p:txBody>
      </p:sp>
      <p:sp>
        <p:nvSpPr>
          <p:cNvPr id="8" name="">
            <a:extLst xmlns:a="http://schemas.openxmlformats.org/drawingml/2006/main">
              <a:ext uri="{FF2B5EF4-FFF2-40B4-BE49-F238E27FC236}">
                <a16:creationId xmlns:a16="http://schemas.microsoft.com/office/drawing/2014/main" id="{90254341-97F1-4F61-A625-26B994E2D9E1}"/>
              </a:ext>
            </a:extLst>
          </p:cNvPr>
          <p:cNvSpPr>
            <a:spLocks xmlns:a="http://schemas.openxmlformats.org/drawingml/2006/main" noGrp="1"/>
          </p:cNvSpPr>
          <p:nvPr/>
        </p:nvSpPr>
        <p:spPr>
          <a:xfrm xmlns:a="http://schemas.openxmlformats.org/drawingml/2006/main">
            <a:off x="1447800" y="19335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F0F4F7"/>
                </a:solidFill>
                <a:latin typeface="Aptos"/>
                <a:ea typeface="Aptos"/>
                <a:cs typeface="Aptos"/>
              </a:defRPr>
            </a:pPr>
            <a:r>
              <a:rPr sz="1425" b="1" i="0">
                <a:solidFill>
                  <a:srgbClr val="F0F4F7"/>
                </a:solidFill>
                <a:latin typeface="Aptos"/>
                <a:ea typeface="Aptos"/>
                <a:cs typeface="Aptos"/>
              </a:rPr>
              <a:t>Evidence correlation</a:t>
            </a:r>
          </a:p>
        </p:txBody>
      </p:sp>
      <p:sp>
        <p:nvSpPr>
          <p:cNvPr id="9" name="">
            <a:extLst xmlns:a="http://schemas.openxmlformats.org/drawingml/2006/main">
              <a:ext uri="{FF2B5EF4-FFF2-40B4-BE49-F238E27FC236}">
                <a16:creationId xmlns:a16="http://schemas.microsoft.com/office/drawing/2014/main" id="{E0818421-80B4-4AB2-8E67-C56A8C67F0FB}"/>
              </a:ext>
            </a:extLst>
          </p:cNvPr>
          <p:cNvSpPr>
            <a:spLocks xmlns:a="http://schemas.openxmlformats.org/drawingml/2006/main" noGrp="1"/>
          </p:cNvSpPr>
          <p:nvPr/>
        </p:nvSpPr>
        <p:spPr>
          <a:xfrm xmlns:a="http://schemas.openxmlformats.org/drawingml/2006/main">
            <a:off x="1447800" y="22383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Health, logs, deployment, config, history, state</a:t>
            </a:r>
          </a:p>
        </p:txBody>
      </p:sp>
      <p:sp>
        <p:nvSpPr>
          <p:cNvPr id="10" name="">
            <a:extLst xmlns:a="http://schemas.openxmlformats.org/drawingml/2006/main">
              <a:ext uri="{FF2B5EF4-FFF2-40B4-BE49-F238E27FC236}">
                <a16:creationId xmlns:a16="http://schemas.microsoft.com/office/drawing/2014/main" id="{48CFDF39-C4E7-4F7E-94D9-042541972317}"/>
              </a:ext>
            </a:extLst>
          </p:cNvPr>
          <p:cNvSpPr>
            <a:spLocks xmlns:a="http://schemas.openxmlformats.org/drawingml/2006/main" noGrp="1"/>
          </p:cNvSpPr>
          <p:nvPr/>
        </p:nvSpPr>
        <p:spPr>
          <a:xfrm xmlns:a="http://schemas.openxmlformats.org/drawingml/2006/main">
            <a:off x="1447800" y="2733675"/>
            <a:ext cx="409575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FCC9316-05EF-4D08-A61F-833C61CF4B66}"/>
              </a:ext>
            </a:extLst>
          </p:cNvPr>
          <p:cNvSpPr>
            <a:spLocks xmlns:a="http://schemas.openxmlformats.org/drawingml/2006/main" noGrp="1"/>
          </p:cNvSpPr>
          <p:nvPr/>
        </p:nvSpPr>
        <p:spPr>
          <a:xfrm xmlns:a="http://schemas.openxmlformats.org/drawingml/2006/main">
            <a:off x="6229350" y="195262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l">
              <a:defRPr sz="825" b="1" i="0">
                <a:solidFill>
                  <a:srgbClr val="9BC4D6"/>
                </a:solidFill>
                <a:latin typeface="Aptos Mono"/>
                <a:ea typeface="Aptos Mono"/>
                <a:cs typeface="Aptos Mono"/>
              </a:defRPr>
            </a:pPr>
            <a:r>
              <a:rPr sz="825" b="1" i="0">
                <a:solidFill>
                  <a:srgbClr val="9BC4D6"/>
                </a:solidFill>
                <a:latin typeface="Aptos Mono"/>
                <a:ea typeface="Aptos Mono"/>
                <a:cs typeface="Aptos Mono"/>
              </a:rPr>
              <a:t>02</a:t>
            </a:r>
          </a:p>
        </p:txBody>
      </p:sp>
      <p:sp>
        <p:nvSpPr>
          <p:cNvPr id="12" name="">
            <a:extLst xmlns:a="http://schemas.openxmlformats.org/drawingml/2006/main">
              <a:ext uri="{FF2B5EF4-FFF2-40B4-BE49-F238E27FC236}">
                <a16:creationId xmlns:a16="http://schemas.microsoft.com/office/drawing/2014/main" id="{9ECA37E7-6D4E-4F56-9A3B-00BD003198D1}"/>
              </a:ext>
            </a:extLst>
          </p:cNvPr>
          <p:cNvSpPr>
            <a:spLocks xmlns:a="http://schemas.openxmlformats.org/drawingml/2006/main" noGrp="1"/>
          </p:cNvSpPr>
          <p:nvPr/>
        </p:nvSpPr>
        <p:spPr>
          <a:xfrm xmlns:a="http://schemas.openxmlformats.org/drawingml/2006/main">
            <a:off x="6781800" y="19335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F0F4F7"/>
                </a:solidFill>
                <a:latin typeface="Aptos"/>
                <a:ea typeface="Aptos"/>
                <a:cs typeface="Aptos"/>
              </a:defRPr>
            </a:pPr>
            <a:r>
              <a:rPr sz="1425" b="1" i="0">
                <a:solidFill>
                  <a:srgbClr val="F0F4F7"/>
                </a:solidFill>
                <a:latin typeface="Aptos"/>
                <a:ea typeface="Aptos"/>
                <a:cs typeface="Aptos"/>
              </a:rPr>
              <a:t>Confidence gate</a:t>
            </a:r>
          </a:p>
        </p:txBody>
      </p:sp>
      <p:sp>
        <p:nvSpPr>
          <p:cNvPr id="13" name="">
            <a:extLst xmlns:a="http://schemas.openxmlformats.org/drawingml/2006/main">
              <a:ext uri="{FF2B5EF4-FFF2-40B4-BE49-F238E27FC236}">
                <a16:creationId xmlns:a16="http://schemas.microsoft.com/office/drawing/2014/main" id="{9296CCEE-DFCB-4707-99C0-A9C5DECC2512}"/>
              </a:ext>
            </a:extLst>
          </p:cNvPr>
          <p:cNvSpPr>
            <a:spLocks xmlns:a="http://schemas.openxmlformats.org/drawingml/2006/main" noGrp="1"/>
          </p:cNvSpPr>
          <p:nvPr/>
        </p:nvSpPr>
        <p:spPr>
          <a:xfrm xmlns:a="http://schemas.openxmlformats.org/drawingml/2006/main">
            <a:off x="6781800" y="22383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High-confidence evidence before production action</a:t>
            </a:r>
          </a:p>
        </p:txBody>
      </p:sp>
      <p:sp>
        <p:nvSpPr>
          <p:cNvPr id="14" name="">
            <a:extLst xmlns:a="http://schemas.openxmlformats.org/drawingml/2006/main">
              <a:ext uri="{FF2B5EF4-FFF2-40B4-BE49-F238E27FC236}">
                <a16:creationId xmlns:a16="http://schemas.microsoft.com/office/drawing/2014/main" id="{EBC3BA5B-6CF5-41D9-A1A5-18414902B79C}"/>
              </a:ext>
            </a:extLst>
          </p:cNvPr>
          <p:cNvSpPr>
            <a:spLocks xmlns:a="http://schemas.openxmlformats.org/drawingml/2006/main" noGrp="1"/>
          </p:cNvSpPr>
          <p:nvPr/>
        </p:nvSpPr>
        <p:spPr>
          <a:xfrm xmlns:a="http://schemas.openxmlformats.org/drawingml/2006/main">
            <a:off x="6781800" y="2733675"/>
            <a:ext cx="409575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91EB3AB-764E-4762-8307-50D75E97311D}"/>
              </a:ext>
            </a:extLst>
          </p:cNvPr>
          <p:cNvSpPr>
            <a:spLocks xmlns:a="http://schemas.openxmlformats.org/drawingml/2006/main" noGrp="1"/>
          </p:cNvSpPr>
          <p:nvPr/>
        </p:nvSpPr>
        <p:spPr>
          <a:xfrm xmlns:a="http://schemas.openxmlformats.org/drawingml/2006/main">
            <a:off x="895350" y="3076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l">
              <a:defRPr sz="825" b="1" i="0">
                <a:solidFill>
                  <a:srgbClr val="9BC4D6"/>
                </a:solidFill>
                <a:latin typeface="Aptos Mono"/>
                <a:ea typeface="Aptos Mono"/>
                <a:cs typeface="Aptos Mono"/>
              </a:defRPr>
            </a:pPr>
            <a:r>
              <a:rPr sz="825" b="1" i="0">
                <a:solidFill>
                  <a:srgbClr val="9BC4D6"/>
                </a:solidFill>
                <a:latin typeface="Aptos Mono"/>
                <a:ea typeface="Aptos Mono"/>
                <a:cs typeface="Aptos Mono"/>
              </a:rPr>
              <a:t>03</a:t>
            </a:r>
          </a:p>
        </p:txBody>
      </p:sp>
      <p:sp>
        <p:nvSpPr>
          <p:cNvPr id="16" name="">
            <a:extLst xmlns:a="http://schemas.openxmlformats.org/drawingml/2006/main">
              <a:ext uri="{FF2B5EF4-FFF2-40B4-BE49-F238E27FC236}">
                <a16:creationId xmlns:a16="http://schemas.microsoft.com/office/drawing/2014/main" id="{1FB9B6F3-9B3B-4BA4-AE2E-7754BB33AB8A}"/>
              </a:ext>
            </a:extLst>
          </p:cNvPr>
          <p:cNvSpPr>
            <a:spLocks xmlns:a="http://schemas.openxmlformats.org/drawingml/2006/main" noGrp="1"/>
          </p:cNvSpPr>
          <p:nvPr/>
        </p:nvSpPr>
        <p:spPr>
          <a:xfrm xmlns:a="http://schemas.openxmlformats.org/drawingml/2006/main">
            <a:off x="1447800" y="30575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F0F4F7"/>
                </a:solidFill>
                <a:latin typeface="Aptos"/>
                <a:ea typeface="Aptos"/>
                <a:cs typeface="Aptos"/>
              </a:defRPr>
            </a:pPr>
            <a:r>
              <a:rPr sz="1425" b="1" i="0">
                <a:solidFill>
                  <a:srgbClr val="F0F4F7"/>
                </a:solidFill>
                <a:latin typeface="Aptos"/>
                <a:ea typeface="Aptos"/>
                <a:cs typeface="Aptos"/>
              </a:rPr>
              <a:t>Approval controls</a:t>
            </a:r>
          </a:p>
        </p:txBody>
      </p:sp>
      <p:sp>
        <p:nvSpPr>
          <p:cNvPr id="17" name="">
            <a:extLst xmlns:a="http://schemas.openxmlformats.org/drawingml/2006/main">
              <a:ext uri="{FF2B5EF4-FFF2-40B4-BE49-F238E27FC236}">
                <a16:creationId xmlns:a16="http://schemas.microsoft.com/office/drawing/2014/main" id="{0656246B-D1B1-4D16-9213-C2B13AF4AA29}"/>
              </a:ext>
            </a:extLst>
          </p:cNvPr>
          <p:cNvSpPr>
            <a:spLocks xmlns:a="http://schemas.openxmlformats.org/drawingml/2006/main" noGrp="1"/>
          </p:cNvSpPr>
          <p:nvPr/>
        </p:nvSpPr>
        <p:spPr>
          <a:xfrm xmlns:a="http://schemas.openxmlformats.org/drawingml/2006/main">
            <a:off x="1447800" y="33623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Qualified roles, reason, approval history</a:t>
            </a:r>
          </a:p>
        </p:txBody>
      </p:sp>
      <p:sp>
        <p:nvSpPr>
          <p:cNvPr id="18" name="">
            <a:extLst xmlns:a="http://schemas.openxmlformats.org/drawingml/2006/main">
              <a:ext uri="{FF2B5EF4-FFF2-40B4-BE49-F238E27FC236}">
                <a16:creationId xmlns:a16="http://schemas.microsoft.com/office/drawing/2014/main" id="{AFEE6F51-1395-4B2F-B79F-39B8176D003B}"/>
              </a:ext>
            </a:extLst>
          </p:cNvPr>
          <p:cNvSpPr>
            <a:spLocks xmlns:a="http://schemas.openxmlformats.org/drawingml/2006/main" noGrp="1"/>
          </p:cNvSpPr>
          <p:nvPr/>
        </p:nvSpPr>
        <p:spPr>
          <a:xfrm xmlns:a="http://schemas.openxmlformats.org/drawingml/2006/main">
            <a:off x="1447800" y="3857625"/>
            <a:ext cx="409575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AD7BBBC-4908-4D05-9A07-9072B2222D21}"/>
              </a:ext>
            </a:extLst>
          </p:cNvPr>
          <p:cNvSpPr>
            <a:spLocks xmlns:a="http://schemas.openxmlformats.org/drawingml/2006/main" noGrp="1"/>
          </p:cNvSpPr>
          <p:nvPr/>
        </p:nvSpPr>
        <p:spPr>
          <a:xfrm xmlns:a="http://schemas.openxmlformats.org/drawingml/2006/main">
            <a:off x="6229350" y="3076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l">
              <a:defRPr sz="825" b="1" i="0">
                <a:solidFill>
                  <a:srgbClr val="9BC4D6"/>
                </a:solidFill>
                <a:latin typeface="Aptos Mono"/>
                <a:ea typeface="Aptos Mono"/>
                <a:cs typeface="Aptos Mono"/>
              </a:defRPr>
            </a:pPr>
            <a:r>
              <a:rPr sz="825" b="1" i="0">
                <a:solidFill>
                  <a:srgbClr val="9BC4D6"/>
                </a:solidFill>
                <a:latin typeface="Aptos Mono"/>
                <a:ea typeface="Aptos Mono"/>
                <a:cs typeface="Aptos Mono"/>
              </a:rPr>
              <a:t>04</a:t>
            </a:r>
          </a:p>
        </p:txBody>
      </p:sp>
      <p:sp>
        <p:nvSpPr>
          <p:cNvPr id="20" name="">
            <a:extLst xmlns:a="http://schemas.openxmlformats.org/drawingml/2006/main">
              <a:ext uri="{FF2B5EF4-FFF2-40B4-BE49-F238E27FC236}">
                <a16:creationId xmlns:a16="http://schemas.microsoft.com/office/drawing/2014/main" id="{C7365373-5E0A-4517-BEA5-06684CD0ECCE}"/>
              </a:ext>
            </a:extLst>
          </p:cNvPr>
          <p:cNvSpPr>
            <a:spLocks xmlns:a="http://schemas.openxmlformats.org/drawingml/2006/main" noGrp="1"/>
          </p:cNvSpPr>
          <p:nvPr/>
        </p:nvSpPr>
        <p:spPr>
          <a:xfrm xmlns:a="http://schemas.openxmlformats.org/drawingml/2006/main">
            <a:off x="6781800" y="30575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F0F4F7"/>
                </a:solidFill>
                <a:latin typeface="Aptos"/>
                <a:ea typeface="Aptos"/>
                <a:cs typeface="Aptos"/>
              </a:defRPr>
            </a:pPr>
            <a:r>
              <a:rPr sz="1425" b="1" i="0">
                <a:solidFill>
                  <a:srgbClr val="F0F4F7"/>
                </a:solidFill>
                <a:latin typeface="Aptos"/>
                <a:ea typeface="Aptos"/>
                <a:cs typeface="Aptos"/>
              </a:rPr>
              <a:t>Runbook context</a:t>
            </a:r>
          </a:p>
        </p:txBody>
      </p:sp>
      <p:sp>
        <p:nvSpPr>
          <p:cNvPr id="21" name="">
            <a:extLst xmlns:a="http://schemas.openxmlformats.org/drawingml/2006/main">
              <a:ext uri="{FF2B5EF4-FFF2-40B4-BE49-F238E27FC236}">
                <a16:creationId xmlns:a16="http://schemas.microsoft.com/office/drawing/2014/main" id="{9A59C83A-0493-407E-9B37-5866318CB220}"/>
              </a:ext>
            </a:extLst>
          </p:cNvPr>
          <p:cNvSpPr>
            <a:spLocks xmlns:a="http://schemas.openxmlformats.org/drawingml/2006/main" noGrp="1"/>
          </p:cNvSpPr>
          <p:nvPr/>
        </p:nvSpPr>
        <p:spPr>
          <a:xfrm xmlns:a="http://schemas.openxmlformats.org/drawingml/2006/main">
            <a:off x="6781800" y="33623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Why this action and manual recovery steps</a:t>
            </a:r>
          </a:p>
        </p:txBody>
      </p:sp>
      <p:sp>
        <p:nvSpPr>
          <p:cNvPr id="22" name="">
            <a:extLst xmlns:a="http://schemas.openxmlformats.org/drawingml/2006/main">
              <a:ext uri="{FF2B5EF4-FFF2-40B4-BE49-F238E27FC236}">
                <a16:creationId xmlns:a16="http://schemas.microsoft.com/office/drawing/2014/main" id="{F1C297CB-D343-452E-814B-54B6B590505A}"/>
              </a:ext>
            </a:extLst>
          </p:cNvPr>
          <p:cNvSpPr>
            <a:spLocks xmlns:a="http://schemas.openxmlformats.org/drawingml/2006/main" noGrp="1"/>
          </p:cNvSpPr>
          <p:nvPr/>
        </p:nvSpPr>
        <p:spPr>
          <a:xfrm xmlns:a="http://schemas.openxmlformats.org/drawingml/2006/main">
            <a:off x="6781800" y="3857625"/>
            <a:ext cx="409575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01788AD-FE3F-463E-9BEB-1830A937CB9E}"/>
              </a:ext>
            </a:extLst>
          </p:cNvPr>
          <p:cNvSpPr>
            <a:spLocks xmlns:a="http://schemas.openxmlformats.org/drawingml/2006/main" noGrp="1"/>
          </p:cNvSpPr>
          <p:nvPr/>
        </p:nvSpPr>
        <p:spPr>
          <a:xfrm xmlns:a="http://schemas.openxmlformats.org/drawingml/2006/main">
            <a:off x="895350" y="420052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l">
              <a:defRPr sz="825" b="1" i="0">
                <a:solidFill>
                  <a:srgbClr val="9BC4D6"/>
                </a:solidFill>
                <a:latin typeface="Aptos Mono"/>
                <a:ea typeface="Aptos Mono"/>
                <a:cs typeface="Aptos Mono"/>
              </a:defRPr>
            </a:pPr>
            <a:r>
              <a:rPr sz="825" b="1" i="0">
                <a:solidFill>
                  <a:srgbClr val="9BC4D6"/>
                </a:solidFill>
                <a:latin typeface="Aptos Mono"/>
                <a:ea typeface="Aptos Mono"/>
                <a:cs typeface="Aptos Mono"/>
              </a:rPr>
              <a:t>05</a:t>
            </a:r>
          </a:p>
        </p:txBody>
      </p:sp>
      <p:sp>
        <p:nvSpPr>
          <p:cNvPr id="24" name="">
            <a:extLst xmlns:a="http://schemas.openxmlformats.org/drawingml/2006/main">
              <a:ext uri="{FF2B5EF4-FFF2-40B4-BE49-F238E27FC236}">
                <a16:creationId xmlns:a16="http://schemas.microsoft.com/office/drawing/2014/main" id="{785F6B52-4532-4E7D-AC0A-C7F1717958F8}"/>
              </a:ext>
            </a:extLst>
          </p:cNvPr>
          <p:cNvSpPr>
            <a:spLocks xmlns:a="http://schemas.openxmlformats.org/drawingml/2006/main" noGrp="1"/>
          </p:cNvSpPr>
          <p:nvPr/>
        </p:nvSpPr>
        <p:spPr>
          <a:xfrm xmlns:a="http://schemas.openxmlformats.org/drawingml/2006/main">
            <a:off x="1447800" y="41814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F0F4F7"/>
                </a:solidFill>
                <a:latin typeface="Aptos"/>
                <a:ea typeface="Aptos"/>
                <a:cs typeface="Aptos"/>
              </a:defRPr>
            </a:pPr>
            <a:r>
              <a:rPr sz="1425" b="1" i="0">
                <a:solidFill>
                  <a:srgbClr val="F0F4F7"/>
                </a:solidFill>
                <a:latin typeface="Aptos"/>
                <a:ea typeface="Aptos"/>
                <a:cs typeface="Aptos"/>
              </a:rPr>
              <a:t>Verified recovery</a:t>
            </a:r>
          </a:p>
        </p:txBody>
      </p:sp>
      <p:sp>
        <p:nvSpPr>
          <p:cNvPr id="25" name="">
            <a:extLst xmlns:a="http://schemas.openxmlformats.org/drawingml/2006/main">
              <a:ext uri="{FF2B5EF4-FFF2-40B4-BE49-F238E27FC236}">
                <a16:creationId xmlns:a16="http://schemas.microsoft.com/office/drawing/2014/main" id="{5EECB985-02BA-4DCE-B22C-C8F673B5C59E}"/>
              </a:ext>
            </a:extLst>
          </p:cNvPr>
          <p:cNvSpPr>
            <a:spLocks xmlns:a="http://schemas.openxmlformats.org/drawingml/2006/main" noGrp="1"/>
          </p:cNvSpPr>
          <p:nvPr/>
        </p:nvSpPr>
        <p:spPr>
          <a:xfrm xmlns:a="http://schemas.openxmlformats.org/drawingml/2006/main">
            <a:off x="1447800" y="44862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Metrics check after remediation</a:t>
            </a:r>
          </a:p>
        </p:txBody>
      </p:sp>
      <p:sp>
        <p:nvSpPr>
          <p:cNvPr id="26" name="">
            <a:extLst xmlns:a="http://schemas.openxmlformats.org/drawingml/2006/main">
              <a:ext uri="{FF2B5EF4-FFF2-40B4-BE49-F238E27FC236}">
                <a16:creationId xmlns:a16="http://schemas.microsoft.com/office/drawing/2014/main" id="{24D5576F-1FBE-4FBE-80FA-2335D3CB7D31}"/>
              </a:ext>
            </a:extLst>
          </p:cNvPr>
          <p:cNvSpPr>
            <a:spLocks xmlns:a="http://schemas.openxmlformats.org/drawingml/2006/main" noGrp="1"/>
          </p:cNvSpPr>
          <p:nvPr/>
        </p:nvSpPr>
        <p:spPr>
          <a:xfrm xmlns:a="http://schemas.openxmlformats.org/drawingml/2006/main">
            <a:off x="1447800" y="4981575"/>
            <a:ext cx="409575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07D2E67-BA1D-43B1-AB1B-5D1B88DF6B4D}"/>
              </a:ext>
            </a:extLst>
          </p:cNvPr>
          <p:cNvSpPr>
            <a:spLocks xmlns:a="http://schemas.openxmlformats.org/drawingml/2006/main" noGrp="1"/>
          </p:cNvSpPr>
          <p:nvPr/>
        </p:nvSpPr>
        <p:spPr>
          <a:xfrm xmlns:a="http://schemas.openxmlformats.org/drawingml/2006/main">
            <a:off x="6229350" y="420052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lgn="l">
              <a:defRPr sz="825" b="1" i="0">
                <a:solidFill>
                  <a:srgbClr val="9BC4D6"/>
                </a:solidFill>
                <a:latin typeface="Aptos Mono"/>
                <a:ea typeface="Aptos Mono"/>
                <a:cs typeface="Aptos Mono"/>
              </a:defRPr>
            </a:pPr>
            <a:r>
              <a:rPr sz="825" b="1" i="0">
                <a:solidFill>
                  <a:srgbClr val="9BC4D6"/>
                </a:solidFill>
                <a:latin typeface="Aptos Mono"/>
                <a:ea typeface="Aptos Mono"/>
                <a:cs typeface="Aptos Mono"/>
              </a:rPr>
              <a:t>06</a:t>
            </a:r>
          </a:p>
        </p:txBody>
      </p:sp>
      <p:sp>
        <p:nvSpPr>
          <p:cNvPr id="28" name="">
            <a:extLst xmlns:a="http://schemas.openxmlformats.org/drawingml/2006/main">
              <a:ext uri="{FF2B5EF4-FFF2-40B4-BE49-F238E27FC236}">
                <a16:creationId xmlns:a16="http://schemas.microsoft.com/office/drawing/2014/main" id="{D69F28E7-85A2-4F97-AC70-0778EF16B14F}"/>
              </a:ext>
            </a:extLst>
          </p:cNvPr>
          <p:cNvSpPr>
            <a:spLocks xmlns:a="http://schemas.openxmlformats.org/drawingml/2006/main" noGrp="1"/>
          </p:cNvSpPr>
          <p:nvPr/>
        </p:nvSpPr>
        <p:spPr>
          <a:xfrm xmlns:a="http://schemas.openxmlformats.org/drawingml/2006/main">
            <a:off x="6781800" y="41814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F0F4F7"/>
                </a:solidFill>
                <a:latin typeface="Aptos"/>
                <a:ea typeface="Aptos"/>
                <a:cs typeface="Aptos"/>
              </a:defRPr>
            </a:pPr>
            <a:r>
              <a:rPr sz="1425" b="1" i="0">
                <a:solidFill>
                  <a:srgbClr val="F0F4F7"/>
                </a:solidFill>
                <a:latin typeface="Aptos"/>
                <a:ea typeface="Aptos"/>
                <a:cs typeface="Aptos"/>
              </a:rPr>
              <a:t>Durable ledger</a:t>
            </a:r>
          </a:p>
        </p:txBody>
      </p:sp>
      <p:sp>
        <p:nvSpPr>
          <p:cNvPr id="29" name="">
            <a:extLst xmlns:a="http://schemas.openxmlformats.org/drawingml/2006/main">
              <a:ext uri="{FF2B5EF4-FFF2-40B4-BE49-F238E27FC236}">
                <a16:creationId xmlns:a16="http://schemas.microsoft.com/office/drawing/2014/main" id="{8F15D9E8-4552-458D-8A45-1C4D6663BE7F}"/>
              </a:ext>
            </a:extLst>
          </p:cNvPr>
          <p:cNvSpPr>
            <a:spLocks xmlns:a="http://schemas.openxmlformats.org/drawingml/2006/main" noGrp="1"/>
          </p:cNvSpPr>
          <p:nvPr/>
        </p:nvSpPr>
        <p:spPr>
          <a:xfrm xmlns:a="http://schemas.openxmlformats.org/drawingml/2006/main">
            <a:off x="6781800" y="44862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Searchable incidents, notifications, audit events</a:t>
            </a:r>
          </a:p>
        </p:txBody>
      </p:sp>
      <p:sp>
        <p:nvSpPr>
          <p:cNvPr id="30" name="">
            <a:extLst xmlns:a="http://schemas.openxmlformats.org/drawingml/2006/main">
              <a:ext uri="{FF2B5EF4-FFF2-40B4-BE49-F238E27FC236}">
                <a16:creationId xmlns:a16="http://schemas.microsoft.com/office/drawing/2014/main" id="{E06DA6DD-1BE7-4B73-A926-AEDE642E5623}"/>
              </a:ext>
            </a:extLst>
          </p:cNvPr>
          <p:cNvSpPr>
            <a:spLocks xmlns:a="http://schemas.openxmlformats.org/drawingml/2006/main" noGrp="1"/>
          </p:cNvSpPr>
          <p:nvPr/>
        </p:nvSpPr>
        <p:spPr>
          <a:xfrm xmlns:a="http://schemas.openxmlformats.org/drawingml/2006/main">
            <a:off x="6781800" y="4981575"/>
            <a:ext cx="409575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Tree>
    <p:extLst>
      <p:ext uri="{BB962C8B-B14F-4D97-AF65-F5344CB8AC3E}">
        <p14:creationId xmlns:p14="http://schemas.microsoft.com/office/powerpoint/2010/main" val="1721070252"/>
      </p:ext>
    </p:extLst>
  </p:cSld>
</p:sld>
</file>

<file path=ppt/slides/slide6.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5D48F8A-F0FC-47E5-8359-730264C1BD49}"/>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651BFC-6078-4EEF-842C-D325E02C3278}"/>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06</a:t>
            </a:r>
          </a:p>
        </p:txBody>
      </p:sp>
      <p:sp>
        <p:nvSpPr>
          <p:cNvPr id="3" name="">
            <a:extLst xmlns:a="http://schemas.openxmlformats.org/drawingml/2006/main">
              <a:ext uri="{FF2B5EF4-FFF2-40B4-BE49-F238E27FC236}">
                <a16:creationId xmlns:a16="http://schemas.microsoft.com/office/drawing/2014/main" id="{CA228783-850D-4124-960C-A05FC93E0D37}"/>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Major incident response process</a:t>
            </a:r>
          </a:p>
        </p:txBody>
      </p:sp>
      <p:sp>
        <p:nvSpPr>
          <p:cNvPr id="4" name="">
            <a:extLst xmlns:a="http://schemas.openxmlformats.org/drawingml/2006/main">
              <a:ext uri="{FF2B5EF4-FFF2-40B4-BE49-F238E27FC236}">
                <a16:creationId xmlns:a16="http://schemas.microsoft.com/office/drawing/2014/main" id="{11F57CF0-5B95-45EF-B9BB-CAAFB8CA8BD9}"/>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A simple flow keeps the demo understandable in seconds.</a:t>
            </a:r>
          </a:p>
        </p:txBody>
      </p:sp>
      <p:sp>
        <p:nvSpPr>
          <p:cNvPr id="5" name="">
            <a:extLst xmlns:a="http://schemas.openxmlformats.org/drawingml/2006/main">
              <a:ext uri="{FF2B5EF4-FFF2-40B4-BE49-F238E27FC236}">
                <a16:creationId xmlns:a16="http://schemas.microsoft.com/office/drawing/2014/main" id="{20765098-E560-4967-ABD4-1BCCBCD140B3}"/>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669D9AC9-065E-4DCC-9153-EDC5077C6809}"/>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06</a:t>
            </a:r>
          </a:p>
        </p:txBody>
      </p:sp>
      <p:sp>
        <p:nvSpPr>
          <p:cNvPr id="7" name="">
            <a:extLst xmlns:a="http://schemas.openxmlformats.org/drawingml/2006/main">
              <a:ext uri="{FF2B5EF4-FFF2-40B4-BE49-F238E27FC236}">
                <a16:creationId xmlns:a16="http://schemas.microsoft.com/office/drawing/2014/main" id="{6E56C5A2-D97B-44D9-82B2-F40D3D0737B7}"/>
              </a:ext>
            </a:extLst>
          </p:cNvPr>
          <p:cNvSpPr>
            <a:spLocks xmlns:a="http://schemas.openxmlformats.org/drawingml/2006/main" noGrp="1"/>
          </p:cNvSpPr>
          <p:nvPr/>
        </p:nvSpPr>
        <p:spPr>
          <a:xfrm xmlns:a="http://schemas.openxmlformats.org/drawingml/2006/main">
            <a:off x="971550" y="2857500"/>
            <a:ext cx="400050" cy="400050"/>
          </a:xfrm>
          <a:prstGeom xmlns:a="http://schemas.openxmlformats.org/drawingml/2006/main" prst="ellipse">
            <a:avLst/>
          </a:prstGeom>
          <a:solidFill xmlns:a="http://schemas.openxmlformats.org/drawingml/2006/main">
            <a:srgbClr val="131820"/>
          </a:solidFill>
          <a:ln xmlns:a="http://schemas.openxmlformats.org/drawingml/2006/main" w="19050">
            <a:solidFill>
              <a:srgbClr val="C77984"/>
            </a:solidFill>
            <a:prstDash val="solid"/>
          </a:ln>
        </p:spPr>
      </p:sp>
      <p:sp>
        <p:nvSpPr>
          <p:cNvPr id="8" name="">
            <a:extLst xmlns:a="http://schemas.openxmlformats.org/drawingml/2006/main">
              <a:ext uri="{FF2B5EF4-FFF2-40B4-BE49-F238E27FC236}">
                <a16:creationId xmlns:a16="http://schemas.microsoft.com/office/drawing/2014/main" id="{235C4310-960E-4858-9C8A-07B8DAA71961}"/>
              </a:ext>
            </a:extLst>
          </p:cNvPr>
          <p:cNvSpPr>
            <a:spLocks xmlns:a="http://schemas.openxmlformats.org/drawingml/2006/main" noGrp="1"/>
          </p:cNvSpPr>
          <p:nvPr/>
        </p:nvSpPr>
        <p:spPr>
          <a:xfrm xmlns:a="http://schemas.openxmlformats.org/drawingml/2006/main">
            <a:off x="971550" y="29527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ctr">
              <a:defRPr sz="825" b="1" i="0">
                <a:solidFill>
                  <a:srgbClr val="C77984"/>
                </a:solidFill>
                <a:latin typeface="Aptos Mono"/>
                <a:ea typeface="Aptos Mono"/>
                <a:cs typeface="Aptos Mono"/>
              </a:defRPr>
            </a:pPr>
            <a:r>
              <a:rPr sz="825" b="1" i="0">
                <a:solidFill>
                  <a:srgbClr val="C77984"/>
                </a:solidFill>
                <a:latin typeface="Aptos Mono"/>
                <a:ea typeface="Aptos Mono"/>
                <a:cs typeface="Aptos Mono"/>
              </a:rPr>
              <a:t>1</a:t>
            </a:r>
          </a:p>
        </p:txBody>
      </p:sp>
      <p:sp>
        <p:nvSpPr>
          <p:cNvPr id="9" name="">
            <a:extLst xmlns:a="http://schemas.openxmlformats.org/drawingml/2006/main">
              <a:ext uri="{FF2B5EF4-FFF2-40B4-BE49-F238E27FC236}">
                <a16:creationId xmlns:a16="http://schemas.microsoft.com/office/drawing/2014/main" id="{34F0F3AD-7D38-4EAA-AD4B-16BB9302C65D}"/>
              </a:ext>
            </a:extLst>
          </p:cNvPr>
          <p:cNvSpPr>
            <a:spLocks xmlns:a="http://schemas.openxmlformats.org/drawingml/2006/main" noGrp="1"/>
          </p:cNvSpPr>
          <p:nvPr/>
        </p:nvSpPr>
        <p:spPr>
          <a:xfrm xmlns:a="http://schemas.openxmlformats.org/drawingml/2006/main">
            <a:off x="638175" y="3371850"/>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975" b="1" i="0">
                <a:solidFill>
                  <a:srgbClr val="F0F4F7"/>
                </a:solidFill>
                <a:latin typeface="Aptos"/>
                <a:ea typeface="Aptos"/>
                <a:cs typeface="Aptos"/>
              </a:defRPr>
            </a:pPr>
            <a:r>
              <a:rPr sz="975" b="1" i="0">
                <a:solidFill>
                  <a:srgbClr val="F0F4F7"/>
                </a:solidFill>
                <a:latin typeface="Aptos"/>
                <a:ea typeface="Aptos"/>
                <a:cs typeface="Aptos"/>
              </a:rPr>
              <a:t>Detect</a:t>
            </a:r>
          </a:p>
        </p:txBody>
      </p:sp>
      <p:sp>
        <p:nvSpPr>
          <p:cNvPr id="10" name="">
            <a:extLst xmlns:a="http://schemas.openxmlformats.org/drawingml/2006/main">
              <a:ext uri="{FF2B5EF4-FFF2-40B4-BE49-F238E27FC236}">
                <a16:creationId xmlns:a16="http://schemas.microsoft.com/office/drawing/2014/main" id="{ED3572D2-D6B4-491E-944A-ED7FDD573CF4}"/>
              </a:ext>
            </a:extLst>
          </p:cNvPr>
          <p:cNvSpPr>
            <a:spLocks xmlns:a="http://schemas.openxmlformats.org/drawingml/2006/main" noGrp="1"/>
          </p:cNvSpPr>
          <p:nvPr/>
        </p:nvSpPr>
        <p:spPr>
          <a:xfrm xmlns:a="http://schemas.openxmlformats.org/drawingml/2006/main">
            <a:off x="1371600" y="3057525"/>
            <a:ext cx="1314450"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977AEE4-36FE-4E49-91B0-37EE064927C5}"/>
              </a:ext>
            </a:extLst>
          </p:cNvPr>
          <p:cNvSpPr>
            <a:spLocks xmlns:a="http://schemas.openxmlformats.org/drawingml/2006/main" noGrp="1"/>
          </p:cNvSpPr>
          <p:nvPr/>
        </p:nvSpPr>
        <p:spPr>
          <a:xfrm xmlns:a="http://schemas.openxmlformats.org/drawingml/2006/main">
            <a:off x="2686050" y="2857500"/>
            <a:ext cx="400050" cy="400050"/>
          </a:xfrm>
          <a:prstGeom xmlns:a="http://schemas.openxmlformats.org/drawingml/2006/main" prst="ellipse">
            <a:avLst/>
          </a:prstGeom>
          <a:solidFill xmlns:a="http://schemas.openxmlformats.org/drawingml/2006/main">
            <a:srgbClr val="131820"/>
          </a:solidFill>
          <a:ln xmlns:a="http://schemas.openxmlformats.org/drawingml/2006/main" w="19050">
            <a:solidFill>
              <a:srgbClr val="9BC4D6"/>
            </a:solidFill>
            <a:prstDash val="solid"/>
          </a:ln>
        </p:spPr>
      </p:sp>
      <p:sp>
        <p:nvSpPr>
          <p:cNvPr id="12" name="">
            <a:extLst xmlns:a="http://schemas.openxmlformats.org/drawingml/2006/main">
              <a:ext uri="{FF2B5EF4-FFF2-40B4-BE49-F238E27FC236}">
                <a16:creationId xmlns:a16="http://schemas.microsoft.com/office/drawing/2014/main" id="{3DE6675E-2CE6-4D54-B6FF-7B0F81EC3F72}"/>
              </a:ext>
            </a:extLst>
          </p:cNvPr>
          <p:cNvSpPr>
            <a:spLocks xmlns:a="http://schemas.openxmlformats.org/drawingml/2006/main" noGrp="1"/>
          </p:cNvSpPr>
          <p:nvPr/>
        </p:nvSpPr>
        <p:spPr>
          <a:xfrm xmlns:a="http://schemas.openxmlformats.org/drawingml/2006/main">
            <a:off x="2686050" y="29527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ctr">
              <a:defRPr sz="825" b="1" i="0">
                <a:solidFill>
                  <a:srgbClr val="9BC4D6"/>
                </a:solidFill>
                <a:latin typeface="Aptos Mono"/>
                <a:ea typeface="Aptos Mono"/>
                <a:cs typeface="Aptos Mono"/>
              </a:defRPr>
            </a:pPr>
            <a:r>
              <a:rPr sz="825" b="1" i="0">
                <a:solidFill>
                  <a:srgbClr val="9BC4D6"/>
                </a:solidFill>
                <a:latin typeface="Aptos Mono"/>
                <a:ea typeface="Aptos Mono"/>
                <a:cs typeface="Aptos Mono"/>
              </a:rPr>
              <a:t>2</a:t>
            </a:r>
          </a:p>
        </p:txBody>
      </p:sp>
      <p:sp>
        <p:nvSpPr>
          <p:cNvPr id="13" name="">
            <a:extLst xmlns:a="http://schemas.openxmlformats.org/drawingml/2006/main">
              <a:ext uri="{FF2B5EF4-FFF2-40B4-BE49-F238E27FC236}">
                <a16:creationId xmlns:a16="http://schemas.microsoft.com/office/drawing/2014/main" id="{E2652EB3-EADC-45B1-AD86-DF61FB931190}"/>
              </a:ext>
            </a:extLst>
          </p:cNvPr>
          <p:cNvSpPr>
            <a:spLocks xmlns:a="http://schemas.openxmlformats.org/drawingml/2006/main" noGrp="1"/>
          </p:cNvSpPr>
          <p:nvPr/>
        </p:nvSpPr>
        <p:spPr>
          <a:xfrm xmlns:a="http://schemas.openxmlformats.org/drawingml/2006/main">
            <a:off x="2352675" y="3371850"/>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975" b="1" i="0">
                <a:solidFill>
                  <a:srgbClr val="F0F4F7"/>
                </a:solidFill>
                <a:latin typeface="Aptos"/>
                <a:ea typeface="Aptos"/>
                <a:cs typeface="Aptos"/>
              </a:defRPr>
            </a:pPr>
            <a:r>
              <a:rPr sz="975" b="1" i="0">
                <a:solidFill>
                  <a:srgbClr val="F0F4F7"/>
                </a:solidFill>
                <a:latin typeface="Aptos"/>
                <a:ea typeface="Aptos"/>
                <a:cs typeface="Aptos"/>
              </a:rPr>
              <a:t>Investigate</a:t>
            </a:r>
          </a:p>
        </p:txBody>
      </p:sp>
      <p:sp>
        <p:nvSpPr>
          <p:cNvPr id="14" name="">
            <a:extLst xmlns:a="http://schemas.openxmlformats.org/drawingml/2006/main">
              <a:ext uri="{FF2B5EF4-FFF2-40B4-BE49-F238E27FC236}">
                <a16:creationId xmlns:a16="http://schemas.microsoft.com/office/drawing/2014/main" id="{D4FC1320-6F7B-4353-A38A-5F5815233261}"/>
              </a:ext>
            </a:extLst>
          </p:cNvPr>
          <p:cNvSpPr>
            <a:spLocks xmlns:a="http://schemas.openxmlformats.org/drawingml/2006/main" noGrp="1"/>
          </p:cNvSpPr>
          <p:nvPr/>
        </p:nvSpPr>
        <p:spPr>
          <a:xfrm xmlns:a="http://schemas.openxmlformats.org/drawingml/2006/main">
            <a:off x="3086100" y="3057525"/>
            <a:ext cx="1314450"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ED33E11-F9C4-4713-8D8A-C38B6A6E42E0}"/>
              </a:ext>
            </a:extLst>
          </p:cNvPr>
          <p:cNvSpPr>
            <a:spLocks xmlns:a="http://schemas.openxmlformats.org/drawingml/2006/main" noGrp="1"/>
          </p:cNvSpPr>
          <p:nvPr/>
        </p:nvSpPr>
        <p:spPr>
          <a:xfrm xmlns:a="http://schemas.openxmlformats.org/drawingml/2006/main">
            <a:off x="4400550" y="2857500"/>
            <a:ext cx="400050" cy="400050"/>
          </a:xfrm>
          <a:prstGeom xmlns:a="http://schemas.openxmlformats.org/drawingml/2006/main" prst="ellipse">
            <a:avLst/>
          </a:prstGeom>
          <a:solidFill xmlns:a="http://schemas.openxmlformats.org/drawingml/2006/main">
            <a:srgbClr val="131820"/>
          </a:solidFill>
          <a:ln xmlns:a="http://schemas.openxmlformats.org/drawingml/2006/main" w="19050">
            <a:solidFill>
              <a:srgbClr val="9B9FBE"/>
            </a:solidFill>
            <a:prstDash val="solid"/>
          </a:ln>
        </p:spPr>
      </p:sp>
      <p:sp>
        <p:nvSpPr>
          <p:cNvPr id="16" name="">
            <a:extLst xmlns:a="http://schemas.openxmlformats.org/drawingml/2006/main">
              <a:ext uri="{FF2B5EF4-FFF2-40B4-BE49-F238E27FC236}">
                <a16:creationId xmlns:a16="http://schemas.microsoft.com/office/drawing/2014/main" id="{0CF0FB43-4A94-4A23-9D82-BB0D942724D8}"/>
              </a:ext>
            </a:extLst>
          </p:cNvPr>
          <p:cNvSpPr>
            <a:spLocks xmlns:a="http://schemas.openxmlformats.org/drawingml/2006/main" noGrp="1"/>
          </p:cNvSpPr>
          <p:nvPr/>
        </p:nvSpPr>
        <p:spPr>
          <a:xfrm xmlns:a="http://schemas.openxmlformats.org/drawingml/2006/main">
            <a:off x="4400550" y="29527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ctr">
              <a:defRPr sz="825" b="1" i="0">
                <a:solidFill>
                  <a:srgbClr val="9B9FBE"/>
                </a:solidFill>
                <a:latin typeface="Aptos Mono"/>
                <a:ea typeface="Aptos Mono"/>
                <a:cs typeface="Aptos Mono"/>
              </a:defRPr>
            </a:pPr>
            <a:r>
              <a:rPr sz="825" b="1" i="0">
                <a:solidFill>
                  <a:srgbClr val="9B9FBE"/>
                </a:solidFill>
                <a:latin typeface="Aptos Mono"/>
                <a:ea typeface="Aptos Mono"/>
                <a:cs typeface="Aptos Mono"/>
              </a:rPr>
              <a:t>3</a:t>
            </a:r>
          </a:p>
        </p:txBody>
      </p:sp>
      <p:sp>
        <p:nvSpPr>
          <p:cNvPr id="17" name="">
            <a:extLst xmlns:a="http://schemas.openxmlformats.org/drawingml/2006/main">
              <a:ext uri="{FF2B5EF4-FFF2-40B4-BE49-F238E27FC236}">
                <a16:creationId xmlns:a16="http://schemas.microsoft.com/office/drawing/2014/main" id="{C2199E55-B2F5-4EB7-A633-E436803D5101}"/>
              </a:ext>
            </a:extLst>
          </p:cNvPr>
          <p:cNvSpPr>
            <a:spLocks xmlns:a="http://schemas.openxmlformats.org/drawingml/2006/main" noGrp="1"/>
          </p:cNvSpPr>
          <p:nvPr/>
        </p:nvSpPr>
        <p:spPr>
          <a:xfrm xmlns:a="http://schemas.openxmlformats.org/drawingml/2006/main">
            <a:off x="4067175" y="3371850"/>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975" b="1" i="0">
                <a:solidFill>
                  <a:srgbClr val="F0F4F7"/>
                </a:solidFill>
                <a:latin typeface="Aptos"/>
                <a:ea typeface="Aptos"/>
                <a:cs typeface="Aptos"/>
              </a:defRPr>
            </a:pPr>
            <a:r>
              <a:rPr sz="975" b="1" i="0">
                <a:solidFill>
                  <a:srgbClr val="F0F4F7"/>
                </a:solidFill>
                <a:latin typeface="Aptos"/>
                <a:ea typeface="Aptos"/>
                <a:cs typeface="Aptos"/>
              </a:rPr>
              <a:t>Explain</a:t>
            </a:r>
          </a:p>
        </p:txBody>
      </p:sp>
      <p:sp>
        <p:nvSpPr>
          <p:cNvPr id="18" name="">
            <a:extLst xmlns:a="http://schemas.openxmlformats.org/drawingml/2006/main">
              <a:ext uri="{FF2B5EF4-FFF2-40B4-BE49-F238E27FC236}">
                <a16:creationId xmlns:a16="http://schemas.microsoft.com/office/drawing/2014/main" id="{364BF711-A72A-4C07-93F9-C58DE0733A38}"/>
              </a:ext>
            </a:extLst>
          </p:cNvPr>
          <p:cNvSpPr>
            <a:spLocks xmlns:a="http://schemas.openxmlformats.org/drawingml/2006/main" noGrp="1"/>
          </p:cNvSpPr>
          <p:nvPr/>
        </p:nvSpPr>
        <p:spPr>
          <a:xfrm xmlns:a="http://schemas.openxmlformats.org/drawingml/2006/main">
            <a:off x="4800600" y="3057525"/>
            <a:ext cx="1314450"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C073EF3-12FD-4104-91B5-D94A7444414A}"/>
              </a:ext>
            </a:extLst>
          </p:cNvPr>
          <p:cNvSpPr>
            <a:spLocks xmlns:a="http://schemas.openxmlformats.org/drawingml/2006/main" noGrp="1"/>
          </p:cNvSpPr>
          <p:nvPr/>
        </p:nvSpPr>
        <p:spPr>
          <a:xfrm xmlns:a="http://schemas.openxmlformats.org/drawingml/2006/main">
            <a:off x="6115050" y="2857500"/>
            <a:ext cx="400050" cy="400050"/>
          </a:xfrm>
          <a:prstGeom xmlns:a="http://schemas.openxmlformats.org/drawingml/2006/main" prst="ellipse">
            <a:avLst/>
          </a:prstGeom>
          <a:solidFill xmlns:a="http://schemas.openxmlformats.org/drawingml/2006/main">
            <a:srgbClr val="131820"/>
          </a:solidFill>
          <a:ln xmlns:a="http://schemas.openxmlformats.org/drawingml/2006/main" w="19050">
            <a:solidFill>
              <a:srgbClr val="D3AF70"/>
            </a:solidFill>
            <a:prstDash val="solid"/>
          </a:ln>
        </p:spPr>
      </p:sp>
      <p:sp>
        <p:nvSpPr>
          <p:cNvPr id="20" name="">
            <a:extLst xmlns:a="http://schemas.openxmlformats.org/drawingml/2006/main">
              <a:ext uri="{FF2B5EF4-FFF2-40B4-BE49-F238E27FC236}">
                <a16:creationId xmlns:a16="http://schemas.microsoft.com/office/drawing/2014/main" id="{BBB5B56F-5C40-468D-8F79-4B203E1A3BAB}"/>
              </a:ext>
            </a:extLst>
          </p:cNvPr>
          <p:cNvSpPr>
            <a:spLocks xmlns:a="http://schemas.openxmlformats.org/drawingml/2006/main" noGrp="1"/>
          </p:cNvSpPr>
          <p:nvPr/>
        </p:nvSpPr>
        <p:spPr>
          <a:xfrm xmlns:a="http://schemas.openxmlformats.org/drawingml/2006/main">
            <a:off x="6115050" y="29527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ctr">
              <a:defRPr sz="825" b="1" i="0">
                <a:solidFill>
                  <a:srgbClr val="D3AF70"/>
                </a:solidFill>
                <a:latin typeface="Aptos Mono"/>
                <a:ea typeface="Aptos Mono"/>
                <a:cs typeface="Aptos Mono"/>
              </a:defRPr>
            </a:pPr>
            <a:r>
              <a:rPr sz="825" b="1" i="0">
                <a:solidFill>
                  <a:srgbClr val="D3AF70"/>
                </a:solidFill>
                <a:latin typeface="Aptos Mono"/>
                <a:ea typeface="Aptos Mono"/>
                <a:cs typeface="Aptos Mono"/>
              </a:rPr>
              <a:t>4</a:t>
            </a:r>
          </a:p>
        </p:txBody>
      </p:sp>
      <p:sp>
        <p:nvSpPr>
          <p:cNvPr id="21" name="">
            <a:extLst xmlns:a="http://schemas.openxmlformats.org/drawingml/2006/main">
              <a:ext uri="{FF2B5EF4-FFF2-40B4-BE49-F238E27FC236}">
                <a16:creationId xmlns:a16="http://schemas.microsoft.com/office/drawing/2014/main" id="{79103AC3-D95A-453A-9773-474A45151829}"/>
              </a:ext>
            </a:extLst>
          </p:cNvPr>
          <p:cNvSpPr>
            <a:spLocks xmlns:a="http://schemas.openxmlformats.org/drawingml/2006/main" noGrp="1"/>
          </p:cNvSpPr>
          <p:nvPr/>
        </p:nvSpPr>
        <p:spPr>
          <a:xfrm xmlns:a="http://schemas.openxmlformats.org/drawingml/2006/main">
            <a:off x="5781675" y="3371850"/>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975" b="1" i="0">
                <a:solidFill>
                  <a:srgbClr val="F0F4F7"/>
                </a:solidFill>
                <a:latin typeface="Aptos"/>
                <a:ea typeface="Aptos"/>
                <a:cs typeface="Aptos"/>
              </a:defRPr>
            </a:pPr>
            <a:r>
              <a:rPr sz="975" b="1" i="0">
                <a:solidFill>
                  <a:srgbClr val="F0F4F7"/>
                </a:solidFill>
                <a:latin typeface="Aptos"/>
                <a:ea typeface="Aptos"/>
                <a:cs typeface="Aptos"/>
              </a:rPr>
              <a:t>Gate</a:t>
            </a:r>
          </a:p>
        </p:txBody>
      </p:sp>
      <p:sp>
        <p:nvSpPr>
          <p:cNvPr id="22" name="">
            <a:extLst xmlns:a="http://schemas.openxmlformats.org/drawingml/2006/main">
              <a:ext uri="{FF2B5EF4-FFF2-40B4-BE49-F238E27FC236}">
                <a16:creationId xmlns:a16="http://schemas.microsoft.com/office/drawing/2014/main" id="{80259E54-5DC3-48EE-8C23-B84556D7E4BE}"/>
              </a:ext>
            </a:extLst>
          </p:cNvPr>
          <p:cNvSpPr>
            <a:spLocks xmlns:a="http://schemas.openxmlformats.org/drawingml/2006/main" noGrp="1"/>
          </p:cNvSpPr>
          <p:nvPr/>
        </p:nvSpPr>
        <p:spPr>
          <a:xfrm xmlns:a="http://schemas.openxmlformats.org/drawingml/2006/main">
            <a:off x="6515100" y="3057525"/>
            <a:ext cx="1314450"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B99A26D-A2A8-4DD4-A7DB-69F722D29ED8}"/>
              </a:ext>
            </a:extLst>
          </p:cNvPr>
          <p:cNvSpPr>
            <a:spLocks xmlns:a="http://schemas.openxmlformats.org/drawingml/2006/main" noGrp="1"/>
          </p:cNvSpPr>
          <p:nvPr/>
        </p:nvSpPr>
        <p:spPr>
          <a:xfrm xmlns:a="http://schemas.openxmlformats.org/drawingml/2006/main">
            <a:off x="7829550" y="2857500"/>
            <a:ext cx="400050" cy="400050"/>
          </a:xfrm>
          <a:prstGeom xmlns:a="http://schemas.openxmlformats.org/drawingml/2006/main" prst="ellipse">
            <a:avLst/>
          </a:prstGeom>
          <a:solidFill xmlns:a="http://schemas.openxmlformats.org/drawingml/2006/main">
            <a:srgbClr val="131820"/>
          </a:solidFill>
          <a:ln xmlns:a="http://schemas.openxmlformats.org/drawingml/2006/main" w="19050">
            <a:solidFill>
              <a:srgbClr val="7DB89D"/>
            </a:solidFill>
            <a:prstDash val="solid"/>
          </a:ln>
        </p:spPr>
      </p:sp>
      <p:sp>
        <p:nvSpPr>
          <p:cNvPr id="24" name="">
            <a:extLst xmlns:a="http://schemas.openxmlformats.org/drawingml/2006/main">
              <a:ext uri="{FF2B5EF4-FFF2-40B4-BE49-F238E27FC236}">
                <a16:creationId xmlns:a16="http://schemas.microsoft.com/office/drawing/2014/main" id="{701F1C17-04D6-40D1-8179-449912933DC0}"/>
              </a:ext>
            </a:extLst>
          </p:cNvPr>
          <p:cNvSpPr>
            <a:spLocks xmlns:a="http://schemas.openxmlformats.org/drawingml/2006/main" noGrp="1"/>
          </p:cNvSpPr>
          <p:nvPr/>
        </p:nvSpPr>
        <p:spPr>
          <a:xfrm xmlns:a="http://schemas.openxmlformats.org/drawingml/2006/main">
            <a:off x="7829550" y="29527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ctr">
              <a:defRPr sz="825" b="1" i="0">
                <a:solidFill>
                  <a:srgbClr val="7DB89D"/>
                </a:solidFill>
                <a:latin typeface="Aptos Mono"/>
                <a:ea typeface="Aptos Mono"/>
                <a:cs typeface="Aptos Mono"/>
              </a:defRPr>
            </a:pPr>
            <a:r>
              <a:rPr sz="825" b="1" i="0">
                <a:solidFill>
                  <a:srgbClr val="7DB89D"/>
                </a:solidFill>
                <a:latin typeface="Aptos Mono"/>
                <a:ea typeface="Aptos Mono"/>
                <a:cs typeface="Aptos Mono"/>
              </a:rPr>
              <a:t>5</a:t>
            </a:r>
          </a:p>
        </p:txBody>
      </p:sp>
      <p:sp>
        <p:nvSpPr>
          <p:cNvPr id="25" name="">
            <a:extLst xmlns:a="http://schemas.openxmlformats.org/drawingml/2006/main">
              <a:ext uri="{FF2B5EF4-FFF2-40B4-BE49-F238E27FC236}">
                <a16:creationId xmlns:a16="http://schemas.microsoft.com/office/drawing/2014/main" id="{8CB7536E-AF76-4D01-8603-2D13925F15BD}"/>
              </a:ext>
            </a:extLst>
          </p:cNvPr>
          <p:cNvSpPr>
            <a:spLocks xmlns:a="http://schemas.openxmlformats.org/drawingml/2006/main" noGrp="1"/>
          </p:cNvSpPr>
          <p:nvPr/>
        </p:nvSpPr>
        <p:spPr>
          <a:xfrm xmlns:a="http://schemas.openxmlformats.org/drawingml/2006/main">
            <a:off x="7496175" y="3371850"/>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975" b="1" i="0">
                <a:solidFill>
                  <a:srgbClr val="F0F4F7"/>
                </a:solidFill>
                <a:latin typeface="Aptos"/>
                <a:ea typeface="Aptos"/>
                <a:cs typeface="Aptos"/>
              </a:defRPr>
            </a:pPr>
            <a:r>
              <a:rPr sz="975" b="1" i="0">
                <a:solidFill>
                  <a:srgbClr val="F0F4F7"/>
                </a:solidFill>
                <a:latin typeface="Aptos"/>
                <a:ea typeface="Aptos"/>
                <a:cs typeface="Aptos"/>
              </a:rPr>
              <a:t>Authorize</a:t>
            </a:r>
          </a:p>
        </p:txBody>
      </p:sp>
      <p:sp>
        <p:nvSpPr>
          <p:cNvPr id="26" name="">
            <a:extLst xmlns:a="http://schemas.openxmlformats.org/drawingml/2006/main">
              <a:ext uri="{FF2B5EF4-FFF2-40B4-BE49-F238E27FC236}">
                <a16:creationId xmlns:a16="http://schemas.microsoft.com/office/drawing/2014/main" id="{FC4CD22D-D184-4E4F-8C02-72C875EB6E67}"/>
              </a:ext>
            </a:extLst>
          </p:cNvPr>
          <p:cNvSpPr>
            <a:spLocks xmlns:a="http://schemas.openxmlformats.org/drawingml/2006/main" noGrp="1"/>
          </p:cNvSpPr>
          <p:nvPr/>
        </p:nvSpPr>
        <p:spPr>
          <a:xfrm xmlns:a="http://schemas.openxmlformats.org/drawingml/2006/main">
            <a:off x="8229600" y="3057525"/>
            <a:ext cx="1314450" cy="19050"/>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BD0D30D-F3C1-47CE-B138-F81A1810F882}"/>
              </a:ext>
            </a:extLst>
          </p:cNvPr>
          <p:cNvSpPr>
            <a:spLocks xmlns:a="http://schemas.openxmlformats.org/drawingml/2006/main" noGrp="1"/>
          </p:cNvSpPr>
          <p:nvPr/>
        </p:nvSpPr>
        <p:spPr>
          <a:xfrm xmlns:a="http://schemas.openxmlformats.org/drawingml/2006/main">
            <a:off x="9544050" y="2857500"/>
            <a:ext cx="400050" cy="400050"/>
          </a:xfrm>
          <a:prstGeom xmlns:a="http://schemas.openxmlformats.org/drawingml/2006/main" prst="ellipse">
            <a:avLst/>
          </a:prstGeom>
          <a:solidFill xmlns:a="http://schemas.openxmlformats.org/drawingml/2006/main">
            <a:srgbClr val="131820"/>
          </a:solidFill>
          <a:ln xmlns:a="http://schemas.openxmlformats.org/drawingml/2006/main" w="19050">
            <a:solidFill>
              <a:srgbClr val="7DB89D"/>
            </a:solidFill>
            <a:prstDash val="solid"/>
          </a:ln>
        </p:spPr>
      </p:sp>
      <p:sp>
        <p:nvSpPr>
          <p:cNvPr id="28" name="">
            <a:extLst xmlns:a="http://schemas.openxmlformats.org/drawingml/2006/main">
              <a:ext uri="{FF2B5EF4-FFF2-40B4-BE49-F238E27FC236}">
                <a16:creationId xmlns:a16="http://schemas.microsoft.com/office/drawing/2014/main" id="{CA69763C-DA62-4640-8BF6-8DBAB9EE905E}"/>
              </a:ext>
            </a:extLst>
          </p:cNvPr>
          <p:cNvSpPr>
            <a:spLocks xmlns:a="http://schemas.openxmlformats.org/drawingml/2006/main" noGrp="1"/>
          </p:cNvSpPr>
          <p:nvPr/>
        </p:nvSpPr>
        <p:spPr>
          <a:xfrm xmlns:a="http://schemas.openxmlformats.org/drawingml/2006/main">
            <a:off x="9544050" y="29527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lgn="ctr">
              <a:defRPr sz="825" b="1" i="0">
                <a:solidFill>
                  <a:srgbClr val="7DB89D"/>
                </a:solidFill>
                <a:latin typeface="Aptos Mono"/>
                <a:ea typeface="Aptos Mono"/>
                <a:cs typeface="Aptos Mono"/>
              </a:defRPr>
            </a:pPr>
            <a:r>
              <a:rPr sz="825" b="1" i="0">
                <a:solidFill>
                  <a:srgbClr val="7DB89D"/>
                </a:solidFill>
                <a:latin typeface="Aptos Mono"/>
                <a:ea typeface="Aptos Mono"/>
                <a:cs typeface="Aptos Mono"/>
              </a:rPr>
              <a:t>6</a:t>
            </a:r>
          </a:p>
        </p:txBody>
      </p:sp>
      <p:sp>
        <p:nvSpPr>
          <p:cNvPr id="29" name="">
            <a:extLst xmlns:a="http://schemas.openxmlformats.org/drawingml/2006/main">
              <a:ext uri="{FF2B5EF4-FFF2-40B4-BE49-F238E27FC236}">
                <a16:creationId xmlns:a16="http://schemas.microsoft.com/office/drawing/2014/main" id="{7DDD65A1-BD7F-481A-845B-569E8D199664}"/>
              </a:ext>
            </a:extLst>
          </p:cNvPr>
          <p:cNvSpPr>
            <a:spLocks xmlns:a="http://schemas.openxmlformats.org/drawingml/2006/main" noGrp="1"/>
          </p:cNvSpPr>
          <p:nvPr/>
        </p:nvSpPr>
        <p:spPr>
          <a:xfrm xmlns:a="http://schemas.openxmlformats.org/drawingml/2006/main">
            <a:off x="9210675" y="3371850"/>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975" b="1" i="0">
                <a:solidFill>
                  <a:srgbClr val="F0F4F7"/>
                </a:solidFill>
                <a:latin typeface="Aptos"/>
                <a:ea typeface="Aptos"/>
                <a:cs typeface="Aptos"/>
              </a:defRPr>
            </a:pPr>
            <a:r>
              <a:rPr sz="975" b="1" i="0">
                <a:solidFill>
                  <a:srgbClr val="F0F4F7"/>
                </a:solidFill>
                <a:latin typeface="Aptos"/>
                <a:ea typeface="Aptos"/>
                <a:cs typeface="Aptos"/>
              </a:rPr>
              <a:t>Verify</a:t>
            </a:r>
          </a:p>
        </p:txBody>
      </p:sp>
      <p:sp>
        <p:nvSpPr>
          <p:cNvPr id="30" name="">
            <a:extLst xmlns:a="http://schemas.openxmlformats.org/drawingml/2006/main">
              <a:ext uri="{FF2B5EF4-FFF2-40B4-BE49-F238E27FC236}">
                <a16:creationId xmlns:a16="http://schemas.microsoft.com/office/drawing/2014/main" id="{1449C670-8B09-4F71-80F4-B7422D4F82BA}"/>
              </a:ext>
            </a:extLst>
          </p:cNvPr>
          <p:cNvSpPr>
            <a:spLocks xmlns:a="http://schemas.openxmlformats.org/drawingml/2006/main" noGrp="1"/>
          </p:cNvSpPr>
          <p:nvPr/>
        </p:nvSpPr>
        <p:spPr>
          <a:xfrm xmlns:a="http://schemas.openxmlformats.org/drawingml/2006/main">
            <a:off x="952500" y="42862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ctr">
              <a:defRPr sz="900" b="0" i="0">
                <a:solidFill>
                  <a:srgbClr val="9AA6B5"/>
                </a:solidFill>
                <a:latin typeface="Aptos"/>
                <a:ea typeface="Aptos"/>
                <a:cs typeface="Aptos"/>
              </a:defRPr>
            </a:pPr>
            <a:r>
              <a:rPr sz="900" b="0" i="0">
                <a:solidFill>
                  <a:srgbClr val="9AA6B5"/>
                </a:solidFill>
                <a:latin typeface="Aptos"/>
                <a:ea typeface="Aptos"/>
                <a:cs typeface="Aptos"/>
              </a:rPr>
              <a:t>Alert</a:t>
            </a:r>
          </a:p>
        </p:txBody>
      </p:sp>
      <p:sp>
        <p:nvSpPr>
          <p:cNvPr id="31" name="">
            <a:extLst xmlns:a="http://schemas.openxmlformats.org/drawingml/2006/main">
              <a:ext uri="{FF2B5EF4-FFF2-40B4-BE49-F238E27FC236}">
                <a16:creationId xmlns:a16="http://schemas.microsoft.com/office/drawing/2014/main" id="{228BB6AD-7477-40B2-AAE6-16856A0CC5E2}"/>
              </a:ext>
            </a:extLst>
          </p:cNvPr>
          <p:cNvSpPr>
            <a:spLocks xmlns:a="http://schemas.openxmlformats.org/drawingml/2006/main" noGrp="1"/>
          </p:cNvSpPr>
          <p:nvPr/>
        </p:nvSpPr>
        <p:spPr>
          <a:xfrm xmlns:a="http://schemas.openxmlformats.org/drawingml/2006/main">
            <a:off x="2495550" y="42862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ctr">
              <a:defRPr sz="900" b="0" i="0">
                <a:solidFill>
                  <a:srgbClr val="9AA6B5"/>
                </a:solidFill>
                <a:latin typeface="Aptos"/>
                <a:ea typeface="Aptos"/>
                <a:cs typeface="Aptos"/>
              </a:defRPr>
            </a:pPr>
            <a:r>
              <a:rPr sz="900" b="0" i="0">
                <a:solidFill>
                  <a:srgbClr val="9AA6B5"/>
                </a:solidFill>
                <a:latin typeface="Aptos"/>
                <a:ea typeface="Aptos"/>
                <a:cs typeface="Aptos"/>
              </a:rPr>
              <a:t>Read-only evidence</a:t>
            </a:r>
          </a:p>
        </p:txBody>
      </p:sp>
      <p:sp>
        <p:nvSpPr>
          <p:cNvPr id="32" name="">
            <a:extLst xmlns:a="http://schemas.openxmlformats.org/drawingml/2006/main">
              <a:ext uri="{FF2B5EF4-FFF2-40B4-BE49-F238E27FC236}">
                <a16:creationId xmlns:a16="http://schemas.microsoft.com/office/drawing/2014/main" id="{AD636B81-0125-4D9E-B9B9-B547969333AC}"/>
              </a:ext>
            </a:extLst>
          </p:cNvPr>
          <p:cNvSpPr>
            <a:spLocks xmlns:a="http://schemas.openxmlformats.org/drawingml/2006/main" noGrp="1"/>
          </p:cNvSpPr>
          <p:nvPr/>
        </p:nvSpPr>
        <p:spPr>
          <a:xfrm xmlns:a="http://schemas.openxmlformats.org/drawingml/2006/main">
            <a:off x="4210050" y="42862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ctr">
              <a:defRPr sz="900" b="0" i="0">
                <a:solidFill>
                  <a:srgbClr val="9AA6B5"/>
                </a:solidFill>
                <a:latin typeface="Aptos"/>
                <a:ea typeface="Aptos"/>
                <a:cs typeface="Aptos"/>
              </a:defRPr>
            </a:pPr>
            <a:r>
              <a:rPr sz="900" b="0" i="0">
                <a:solidFill>
                  <a:srgbClr val="9AA6B5"/>
                </a:solidFill>
                <a:latin typeface="Aptos"/>
                <a:ea typeface="Aptos"/>
                <a:cs typeface="Aptos"/>
              </a:rPr>
              <a:t>Root cause + why</a:t>
            </a:r>
          </a:p>
        </p:txBody>
      </p:sp>
      <p:sp>
        <p:nvSpPr>
          <p:cNvPr id="33" name="">
            <a:extLst xmlns:a="http://schemas.openxmlformats.org/drawingml/2006/main">
              <a:ext uri="{FF2B5EF4-FFF2-40B4-BE49-F238E27FC236}">
                <a16:creationId xmlns:a16="http://schemas.microsoft.com/office/drawing/2014/main" id="{D2701C2E-4B79-405C-889B-B39DBDFD0896}"/>
              </a:ext>
            </a:extLst>
          </p:cNvPr>
          <p:cNvSpPr>
            <a:spLocks xmlns:a="http://schemas.openxmlformats.org/drawingml/2006/main" noGrp="1"/>
          </p:cNvSpPr>
          <p:nvPr/>
        </p:nvSpPr>
        <p:spPr>
          <a:xfrm xmlns:a="http://schemas.openxmlformats.org/drawingml/2006/main">
            <a:off x="5924550" y="42862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ctr">
              <a:defRPr sz="900" b="0" i="0">
                <a:solidFill>
                  <a:srgbClr val="9AA6B5"/>
                </a:solidFill>
                <a:latin typeface="Aptos"/>
                <a:ea typeface="Aptos"/>
                <a:cs typeface="Aptos"/>
              </a:defRPr>
            </a:pPr>
            <a:r>
              <a:rPr sz="900" b="0" i="0">
                <a:solidFill>
                  <a:srgbClr val="9AA6B5"/>
                </a:solidFill>
                <a:latin typeface="Aptos"/>
                <a:ea typeface="Aptos"/>
                <a:cs typeface="Aptos"/>
              </a:rPr>
              <a:t>Confidence + risk</a:t>
            </a:r>
          </a:p>
        </p:txBody>
      </p:sp>
      <p:sp>
        <p:nvSpPr>
          <p:cNvPr id="34" name="">
            <a:extLst xmlns:a="http://schemas.openxmlformats.org/drawingml/2006/main">
              <a:ext uri="{FF2B5EF4-FFF2-40B4-BE49-F238E27FC236}">
                <a16:creationId xmlns:a16="http://schemas.microsoft.com/office/drawing/2014/main" id="{2A79AAEE-4358-4E7E-9DA6-D9EF0D264262}"/>
              </a:ext>
            </a:extLst>
          </p:cNvPr>
          <p:cNvSpPr>
            <a:spLocks xmlns:a="http://schemas.openxmlformats.org/drawingml/2006/main" noGrp="1"/>
          </p:cNvSpPr>
          <p:nvPr/>
        </p:nvSpPr>
        <p:spPr>
          <a:xfrm xmlns:a="http://schemas.openxmlformats.org/drawingml/2006/main">
            <a:off x="7639050" y="428625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ctr">
              <a:defRPr sz="900" b="0" i="0">
                <a:solidFill>
                  <a:srgbClr val="9AA6B5"/>
                </a:solidFill>
                <a:latin typeface="Aptos"/>
                <a:ea typeface="Aptos"/>
                <a:cs typeface="Aptos"/>
              </a:defRPr>
            </a:pPr>
            <a:r>
              <a:rPr sz="900" b="0" i="0">
                <a:solidFill>
                  <a:srgbClr val="9AA6B5"/>
                </a:solidFill>
                <a:latin typeface="Aptos"/>
                <a:ea typeface="Aptos"/>
                <a:cs typeface="Aptos"/>
              </a:rPr>
              <a:t>Approval / reject / manual</a:t>
            </a:r>
          </a:p>
        </p:txBody>
      </p:sp>
      <p:sp>
        <p:nvSpPr>
          <p:cNvPr id="35" name="">
            <a:extLst xmlns:a="http://schemas.openxmlformats.org/drawingml/2006/main">
              <a:ext uri="{FF2B5EF4-FFF2-40B4-BE49-F238E27FC236}">
                <a16:creationId xmlns:a16="http://schemas.microsoft.com/office/drawing/2014/main" id="{E099122B-1939-4F46-9542-556537B97D32}"/>
              </a:ext>
            </a:extLst>
          </p:cNvPr>
          <p:cNvSpPr>
            <a:spLocks xmlns:a="http://schemas.openxmlformats.org/drawingml/2006/main" noGrp="1"/>
          </p:cNvSpPr>
          <p:nvPr/>
        </p:nvSpPr>
        <p:spPr>
          <a:xfrm xmlns:a="http://schemas.openxmlformats.org/drawingml/2006/main">
            <a:off x="9353550" y="42862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ctr">
              <a:defRPr sz="900" b="0" i="0">
                <a:solidFill>
                  <a:srgbClr val="9AA6B5"/>
                </a:solidFill>
                <a:latin typeface="Aptos"/>
                <a:ea typeface="Aptos"/>
                <a:cs typeface="Aptos"/>
              </a:defRPr>
            </a:pPr>
            <a:r>
              <a:rPr sz="900" b="0" i="0">
                <a:solidFill>
                  <a:srgbClr val="9AA6B5"/>
                </a:solidFill>
                <a:latin typeface="Aptos"/>
                <a:ea typeface="Aptos"/>
                <a:cs typeface="Aptos"/>
              </a:rPr>
              <a:t>Recovery + audit</a:t>
            </a:r>
          </a:p>
        </p:txBody>
      </p:sp>
    </p:spTree>
    <p:extLst>
      <p:ext uri="{BB962C8B-B14F-4D97-AF65-F5344CB8AC3E}">
        <p14:creationId xmlns:p14="http://schemas.microsoft.com/office/powerpoint/2010/main" val="1484619692"/>
      </p:ext>
    </p:extLst>
  </p:cSld>
</p:sld>
</file>

<file path=ppt/slides/slide7.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8AF2179-BB37-465C-851D-208D53E92BFB}"/>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6B3693-B5F4-4E4C-A405-94F75EE4D967}"/>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07</a:t>
            </a:r>
          </a:p>
        </p:txBody>
      </p:sp>
      <p:sp>
        <p:nvSpPr>
          <p:cNvPr id="3" name="">
            <a:extLst xmlns:a="http://schemas.openxmlformats.org/drawingml/2006/main">
              <a:ext uri="{FF2B5EF4-FFF2-40B4-BE49-F238E27FC236}">
                <a16:creationId xmlns:a16="http://schemas.microsoft.com/office/drawing/2014/main" id="{60FFD083-3E85-4E9F-834D-CC63043DDE25}"/>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Technology and architecture</a:t>
            </a:r>
          </a:p>
        </p:txBody>
      </p:sp>
      <p:sp>
        <p:nvSpPr>
          <p:cNvPr id="4" name="">
            <a:extLst xmlns:a="http://schemas.openxmlformats.org/drawingml/2006/main">
              <a:ext uri="{FF2B5EF4-FFF2-40B4-BE49-F238E27FC236}">
                <a16:creationId xmlns:a16="http://schemas.microsoft.com/office/drawing/2014/main" id="{A05941F6-15A5-4A4F-8E0E-2A01467564F9}"/>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A modular React and FastAPI system connects an agent workflow to controlled remediation.</a:t>
            </a:r>
          </a:p>
        </p:txBody>
      </p:sp>
      <p:sp>
        <p:nvSpPr>
          <p:cNvPr id="5" name="">
            <a:extLst xmlns:a="http://schemas.openxmlformats.org/drawingml/2006/main">
              <a:ext uri="{FF2B5EF4-FFF2-40B4-BE49-F238E27FC236}">
                <a16:creationId xmlns:a16="http://schemas.microsoft.com/office/drawing/2014/main" id="{6F15B6B5-3DA7-411D-B953-FC82C95AAE80}"/>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12583E55-5257-4A0B-91EC-16BCD79BECEA}"/>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07</a:t>
            </a:r>
          </a:p>
        </p:txBody>
      </p:sp>
      <p:sp>
        <p:nvSpPr>
          <p:cNvPr id="7" name="">
            <a:extLst xmlns:a="http://schemas.openxmlformats.org/drawingml/2006/main">
              <a:ext uri="{FF2B5EF4-FFF2-40B4-BE49-F238E27FC236}">
                <a16:creationId xmlns:a16="http://schemas.microsoft.com/office/drawing/2014/main" id="{CB34D5C8-FEB4-4901-9E5F-AB559FE25C6C}"/>
              </a:ext>
            </a:extLst>
          </p:cNvPr>
          <p:cNvSpPr>
            <a:spLocks xmlns:a="http://schemas.openxmlformats.org/drawingml/2006/main" noGrp="1"/>
          </p:cNvSpPr>
          <p:nvPr/>
        </p:nvSpPr>
        <p:spPr>
          <a:xfrm xmlns:a="http://schemas.openxmlformats.org/drawingml/2006/main">
            <a:off x="1619250" y="1809750"/>
            <a:ext cx="7239000" cy="666750"/>
          </a:xfrm>
          <a:prstGeom xmlns:a="http://schemas.openxmlformats.org/drawingml/2006/main" prst="roundRect">
            <a:avLst>
              <a:gd name="adj" fmla="val 17143"/>
            </a:avLst>
          </a:prstGeom>
          <a:solidFill xmlns:a="http://schemas.openxmlformats.org/drawingml/2006/main">
            <a:srgbClr val="131820"/>
          </a:solidFill>
          <a:ln xmlns:a="http://schemas.openxmlformats.org/drawingml/2006/main" w="9525">
            <a:solidFill>
              <a:srgbClr val="303A46"/>
            </a:solidFill>
            <a:prstDash val="solid"/>
          </a:ln>
        </p:spPr>
      </p:sp>
      <p:sp>
        <p:nvSpPr>
          <p:cNvPr id="8" name="">
            <a:extLst xmlns:a="http://schemas.openxmlformats.org/drawingml/2006/main">
              <a:ext uri="{FF2B5EF4-FFF2-40B4-BE49-F238E27FC236}">
                <a16:creationId xmlns:a16="http://schemas.microsoft.com/office/drawing/2014/main" id="{C059631B-D7A3-454C-BA0D-848E134997B5}"/>
              </a:ext>
            </a:extLst>
          </p:cNvPr>
          <p:cNvSpPr>
            <a:spLocks xmlns:a="http://schemas.openxmlformats.org/drawingml/2006/main" noGrp="1"/>
          </p:cNvSpPr>
          <p:nvPr/>
        </p:nvSpPr>
        <p:spPr>
          <a:xfrm xmlns:a="http://schemas.openxmlformats.org/drawingml/2006/main">
            <a:off x="1924050" y="19621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defRPr sz="1350" b="1" i="0">
                <a:solidFill>
                  <a:srgbClr val="9BC4D6"/>
                </a:solidFill>
                <a:latin typeface="Aptos"/>
                <a:ea typeface="Aptos"/>
                <a:cs typeface="Aptos"/>
              </a:defRPr>
            </a:pPr>
            <a:r>
              <a:rPr sz="1350" b="1" i="0">
                <a:solidFill>
                  <a:srgbClr val="9BC4D6"/>
                </a:solidFill>
                <a:latin typeface="Aptos"/>
                <a:ea typeface="Aptos"/>
                <a:cs typeface="Aptos"/>
              </a:rPr>
              <a:t>Product interface</a:t>
            </a:r>
          </a:p>
        </p:txBody>
      </p:sp>
      <p:sp>
        <p:nvSpPr>
          <p:cNvPr id="9" name="">
            <a:extLst xmlns:a="http://schemas.openxmlformats.org/drawingml/2006/main">
              <a:ext uri="{FF2B5EF4-FFF2-40B4-BE49-F238E27FC236}">
                <a16:creationId xmlns:a16="http://schemas.microsoft.com/office/drawing/2014/main" id="{1D8CBD14-06E1-4A6F-AC6D-45FE22BA679E}"/>
              </a:ext>
            </a:extLst>
          </p:cNvPr>
          <p:cNvSpPr>
            <a:spLocks xmlns:a="http://schemas.openxmlformats.org/drawingml/2006/main" noGrp="1"/>
          </p:cNvSpPr>
          <p:nvPr/>
        </p:nvSpPr>
        <p:spPr>
          <a:xfrm xmlns:a="http://schemas.openxmlformats.org/drawingml/2006/main">
            <a:off x="4171950" y="19526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React + Vite</a:t>
            </a:r>
          </a:p>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Incident console, guided demo, records</a:t>
            </a:r>
          </a:p>
        </p:txBody>
      </p:sp>
      <p:sp>
        <p:nvSpPr>
          <p:cNvPr id="10" name="">
            <a:extLst xmlns:a="http://schemas.openxmlformats.org/drawingml/2006/main">
              <a:ext uri="{FF2B5EF4-FFF2-40B4-BE49-F238E27FC236}">
                <a16:creationId xmlns:a16="http://schemas.microsoft.com/office/drawing/2014/main" id="{433DB78E-31BB-47E3-A686-568964FFDB4D}"/>
              </a:ext>
            </a:extLst>
          </p:cNvPr>
          <p:cNvSpPr>
            <a:spLocks xmlns:a="http://schemas.openxmlformats.org/drawingml/2006/main" noGrp="1"/>
          </p:cNvSpPr>
          <p:nvPr/>
        </p:nvSpPr>
        <p:spPr>
          <a:xfrm xmlns:a="http://schemas.openxmlformats.org/drawingml/2006/main">
            <a:off x="5219700" y="2476500"/>
            <a:ext cx="19050" cy="0"/>
          </a:xfrm>
          <a:prstGeom xmlns:a="http://schemas.openxmlformats.org/drawingml/2006/main" prst="rect">
            <a:avLst/>
          </a:prstGeom>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C2E81B-1EBE-408C-80E8-6EDC513B59F0}"/>
              </a:ext>
            </a:extLst>
          </p:cNvPr>
          <p:cNvSpPr>
            <a:spLocks xmlns:a="http://schemas.openxmlformats.org/drawingml/2006/main" noGrp="1"/>
          </p:cNvSpPr>
          <p:nvPr/>
        </p:nvSpPr>
        <p:spPr>
          <a:xfrm xmlns:a="http://schemas.openxmlformats.org/drawingml/2006/main">
            <a:off x="1619250" y="2762250"/>
            <a:ext cx="7239000" cy="666750"/>
          </a:xfrm>
          <a:prstGeom xmlns:a="http://schemas.openxmlformats.org/drawingml/2006/main" prst="roundRect">
            <a:avLst>
              <a:gd name="adj" fmla="val 17143"/>
            </a:avLst>
          </a:prstGeom>
          <a:solidFill xmlns:a="http://schemas.openxmlformats.org/drawingml/2006/main">
            <a:srgbClr val="131820"/>
          </a:solidFill>
          <a:ln xmlns:a="http://schemas.openxmlformats.org/drawingml/2006/main" w="9525">
            <a:solidFill>
              <a:srgbClr val="303A46"/>
            </a:solidFill>
            <a:prstDash val="solid"/>
          </a:ln>
        </p:spPr>
      </p:sp>
      <p:sp>
        <p:nvSpPr>
          <p:cNvPr id="12" name="">
            <a:extLst xmlns:a="http://schemas.openxmlformats.org/drawingml/2006/main">
              <a:ext uri="{FF2B5EF4-FFF2-40B4-BE49-F238E27FC236}">
                <a16:creationId xmlns:a16="http://schemas.microsoft.com/office/drawing/2014/main" id="{E66F089D-DC35-477F-A0B1-7AE5D3754706}"/>
              </a:ext>
            </a:extLst>
          </p:cNvPr>
          <p:cNvSpPr>
            <a:spLocks xmlns:a="http://schemas.openxmlformats.org/drawingml/2006/main" noGrp="1"/>
          </p:cNvSpPr>
          <p:nvPr/>
        </p:nvSpPr>
        <p:spPr>
          <a:xfrm xmlns:a="http://schemas.openxmlformats.org/drawingml/2006/main">
            <a:off x="1924050" y="29146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defRPr sz="1350" b="1" i="0">
                <a:solidFill>
                  <a:srgbClr val="9B9FBE"/>
                </a:solidFill>
                <a:latin typeface="Aptos"/>
                <a:ea typeface="Aptos"/>
                <a:cs typeface="Aptos"/>
              </a:defRPr>
            </a:pPr>
            <a:r>
              <a:rPr sz="1350" b="1" i="0">
                <a:solidFill>
                  <a:srgbClr val="9B9FBE"/>
                </a:solidFill>
                <a:latin typeface="Aptos"/>
                <a:ea typeface="Aptos"/>
                <a:cs typeface="Aptos"/>
              </a:rPr>
              <a:t>Application API</a:t>
            </a:r>
          </a:p>
        </p:txBody>
      </p:sp>
      <p:sp>
        <p:nvSpPr>
          <p:cNvPr id="13" name="">
            <a:extLst xmlns:a="http://schemas.openxmlformats.org/drawingml/2006/main">
              <a:ext uri="{FF2B5EF4-FFF2-40B4-BE49-F238E27FC236}">
                <a16:creationId xmlns:a16="http://schemas.microsoft.com/office/drawing/2014/main" id="{2275B8AC-4E6E-446B-BBA8-AFDA77B9EFF0}"/>
              </a:ext>
            </a:extLst>
          </p:cNvPr>
          <p:cNvSpPr>
            <a:spLocks xmlns:a="http://schemas.openxmlformats.org/drawingml/2006/main" noGrp="1"/>
          </p:cNvSpPr>
          <p:nvPr/>
        </p:nvSpPr>
        <p:spPr>
          <a:xfrm xmlns:a="http://schemas.openxmlformats.org/drawingml/2006/main">
            <a:off x="4171950" y="29051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FastAPI</a:t>
            </a:r>
          </a:p>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Typed remediation request and policy endpoints</a:t>
            </a:r>
          </a:p>
        </p:txBody>
      </p:sp>
      <p:sp>
        <p:nvSpPr>
          <p:cNvPr id="14" name="">
            <a:extLst xmlns:a="http://schemas.openxmlformats.org/drawingml/2006/main">
              <a:ext uri="{FF2B5EF4-FFF2-40B4-BE49-F238E27FC236}">
                <a16:creationId xmlns:a16="http://schemas.microsoft.com/office/drawing/2014/main" id="{9545A14F-2A58-44F4-BB53-6BBB28B0D718}"/>
              </a:ext>
            </a:extLst>
          </p:cNvPr>
          <p:cNvSpPr>
            <a:spLocks xmlns:a="http://schemas.openxmlformats.org/drawingml/2006/main" noGrp="1"/>
          </p:cNvSpPr>
          <p:nvPr/>
        </p:nvSpPr>
        <p:spPr>
          <a:xfrm xmlns:a="http://schemas.openxmlformats.org/drawingml/2006/main">
            <a:off x="5219700" y="3429000"/>
            <a:ext cx="19050" cy="0"/>
          </a:xfrm>
          <a:prstGeom xmlns:a="http://schemas.openxmlformats.org/drawingml/2006/main" prst="rect">
            <a:avLst/>
          </a:prstGeom>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10A4652-5FA2-458D-B8DF-2F8F9318D0E2}"/>
              </a:ext>
            </a:extLst>
          </p:cNvPr>
          <p:cNvSpPr>
            <a:spLocks xmlns:a="http://schemas.openxmlformats.org/drawingml/2006/main" noGrp="1"/>
          </p:cNvSpPr>
          <p:nvPr/>
        </p:nvSpPr>
        <p:spPr>
          <a:xfrm xmlns:a="http://schemas.openxmlformats.org/drawingml/2006/main">
            <a:off x="1619250" y="3714750"/>
            <a:ext cx="7239000" cy="666750"/>
          </a:xfrm>
          <a:prstGeom xmlns:a="http://schemas.openxmlformats.org/drawingml/2006/main" prst="roundRect">
            <a:avLst>
              <a:gd name="adj" fmla="val 17143"/>
            </a:avLst>
          </a:prstGeom>
          <a:solidFill xmlns:a="http://schemas.openxmlformats.org/drawingml/2006/main">
            <a:srgbClr val="131820"/>
          </a:solidFill>
          <a:ln xmlns:a="http://schemas.openxmlformats.org/drawingml/2006/main" w="9525">
            <a:solidFill>
              <a:srgbClr val="303A46"/>
            </a:solidFill>
            <a:prstDash val="solid"/>
          </a:ln>
        </p:spPr>
      </p:sp>
      <p:sp>
        <p:nvSpPr>
          <p:cNvPr id="16" name="">
            <a:extLst xmlns:a="http://schemas.openxmlformats.org/drawingml/2006/main">
              <a:ext uri="{FF2B5EF4-FFF2-40B4-BE49-F238E27FC236}">
                <a16:creationId xmlns:a16="http://schemas.microsoft.com/office/drawing/2014/main" id="{62B67689-EFAA-4D1C-A8C5-E8EDA00E8552}"/>
              </a:ext>
            </a:extLst>
          </p:cNvPr>
          <p:cNvSpPr>
            <a:spLocks xmlns:a="http://schemas.openxmlformats.org/drawingml/2006/main" noGrp="1"/>
          </p:cNvSpPr>
          <p:nvPr/>
        </p:nvSpPr>
        <p:spPr>
          <a:xfrm xmlns:a="http://schemas.openxmlformats.org/drawingml/2006/main">
            <a:off x="1924050" y="38671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defRPr sz="1350" b="1" i="0">
                <a:solidFill>
                  <a:srgbClr val="D3AF70"/>
                </a:solidFill>
                <a:latin typeface="Aptos"/>
                <a:ea typeface="Aptos"/>
                <a:cs typeface="Aptos"/>
              </a:defRPr>
            </a:pPr>
            <a:r>
              <a:rPr sz="1350" b="1" i="0">
                <a:solidFill>
                  <a:srgbClr val="D3AF70"/>
                </a:solidFill>
                <a:latin typeface="Aptos"/>
                <a:ea typeface="Aptos"/>
                <a:cs typeface="Aptos"/>
              </a:rPr>
              <a:t>Investigation engine</a:t>
            </a:r>
          </a:p>
        </p:txBody>
      </p:sp>
      <p:sp>
        <p:nvSpPr>
          <p:cNvPr id="17" name="">
            <a:extLst xmlns:a="http://schemas.openxmlformats.org/drawingml/2006/main">
              <a:ext uri="{FF2B5EF4-FFF2-40B4-BE49-F238E27FC236}">
                <a16:creationId xmlns:a16="http://schemas.microsoft.com/office/drawing/2014/main" id="{234F5A9B-ECF8-4FC4-90FC-0AB94ED88DC6}"/>
              </a:ext>
            </a:extLst>
          </p:cNvPr>
          <p:cNvSpPr>
            <a:spLocks xmlns:a="http://schemas.openxmlformats.org/drawingml/2006/main" noGrp="1"/>
          </p:cNvSpPr>
          <p:nvPr/>
        </p:nvSpPr>
        <p:spPr>
          <a:xfrm xmlns:a="http://schemas.openxmlformats.org/drawingml/2006/main">
            <a:off x="4171950" y="38576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Gemini tool agent</a:t>
            </a:r>
          </a:p>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Deterministic fallback when provider is unavailable</a:t>
            </a:r>
          </a:p>
        </p:txBody>
      </p:sp>
      <p:sp>
        <p:nvSpPr>
          <p:cNvPr id="18" name="">
            <a:extLst xmlns:a="http://schemas.openxmlformats.org/drawingml/2006/main">
              <a:ext uri="{FF2B5EF4-FFF2-40B4-BE49-F238E27FC236}">
                <a16:creationId xmlns:a16="http://schemas.microsoft.com/office/drawing/2014/main" id="{F618E24B-9C4E-443F-BB53-FAF032A2F479}"/>
              </a:ext>
            </a:extLst>
          </p:cNvPr>
          <p:cNvSpPr>
            <a:spLocks xmlns:a="http://schemas.openxmlformats.org/drawingml/2006/main" noGrp="1"/>
          </p:cNvSpPr>
          <p:nvPr/>
        </p:nvSpPr>
        <p:spPr>
          <a:xfrm xmlns:a="http://schemas.openxmlformats.org/drawingml/2006/main">
            <a:off x="5219700" y="4381500"/>
            <a:ext cx="19050" cy="0"/>
          </a:xfrm>
          <a:prstGeom xmlns:a="http://schemas.openxmlformats.org/drawingml/2006/main" prst="rect">
            <a:avLst/>
          </a:prstGeom>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2016CF1-795A-4EE1-979D-2DD9BC00B2AE}"/>
              </a:ext>
            </a:extLst>
          </p:cNvPr>
          <p:cNvSpPr>
            <a:spLocks xmlns:a="http://schemas.openxmlformats.org/drawingml/2006/main" noGrp="1"/>
          </p:cNvSpPr>
          <p:nvPr/>
        </p:nvSpPr>
        <p:spPr>
          <a:xfrm xmlns:a="http://schemas.openxmlformats.org/drawingml/2006/main">
            <a:off x="1619250" y="4667250"/>
            <a:ext cx="7239000" cy="666750"/>
          </a:xfrm>
          <a:prstGeom xmlns:a="http://schemas.openxmlformats.org/drawingml/2006/main" prst="roundRect">
            <a:avLst>
              <a:gd name="adj" fmla="val 17143"/>
            </a:avLst>
          </a:prstGeom>
          <a:solidFill xmlns:a="http://schemas.openxmlformats.org/drawingml/2006/main">
            <a:srgbClr val="131820"/>
          </a:solidFill>
          <a:ln xmlns:a="http://schemas.openxmlformats.org/drawingml/2006/main" w="9525">
            <a:solidFill>
              <a:srgbClr val="303A46"/>
            </a:solidFill>
            <a:prstDash val="solid"/>
          </a:ln>
        </p:spPr>
      </p:sp>
      <p:sp>
        <p:nvSpPr>
          <p:cNvPr id="20" name="">
            <a:extLst xmlns:a="http://schemas.openxmlformats.org/drawingml/2006/main">
              <a:ext uri="{FF2B5EF4-FFF2-40B4-BE49-F238E27FC236}">
                <a16:creationId xmlns:a16="http://schemas.microsoft.com/office/drawing/2014/main" id="{94DCA3F6-5FA5-41FC-941B-8C3D90A6EEA6}"/>
              </a:ext>
            </a:extLst>
          </p:cNvPr>
          <p:cNvSpPr>
            <a:spLocks xmlns:a="http://schemas.openxmlformats.org/drawingml/2006/main" noGrp="1"/>
          </p:cNvSpPr>
          <p:nvPr/>
        </p:nvSpPr>
        <p:spPr>
          <a:xfrm xmlns:a="http://schemas.openxmlformats.org/drawingml/2006/main">
            <a:off x="1924050" y="48196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defRPr sz="1350" b="1" i="0">
                <a:solidFill>
                  <a:srgbClr val="7DB89D"/>
                </a:solidFill>
                <a:latin typeface="Aptos"/>
                <a:ea typeface="Aptos"/>
                <a:cs typeface="Aptos"/>
              </a:defRPr>
            </a:pPr>
            <a:r>
              <a:rPr sz="1350" b="1" i="0">
                <a:solidFill>
                  <a:srgbClr val="7DB89D"/>
                </a:solidFill>
                <a:latin typeface="Aptos"/>
                <a:ea typeface="Aptos"/>
                <a:cs typeface="Aptos"/>
              </a:rPr>
              <a:t>Control &amp; evidence</a:t>
            </a:r>
          </a:p>
        </p:txBody>
      </p:sp>
      <p:sp>
        <p:nvSpPr>
          <p:cNvPr id="21" name="">
            <a:extLst xmlns:a="http://schemas.openxmlformats.org/drawingml/2006/main">
              <a:ext uri="{FF2B5EF4-FFF2-40B4-BE49-F238E27FC236}">
                <a16:creationId xmlns:a16="http://schemas.microsoft.com/office/drawing/2014/main" id="{6997CD20-5310-4CBE-96C2-5816A5049A1E}"/>
              </a:ext>
            </a:extLst>
          </p:cNvPr>
          <p:cNvSpPr>
            <a:spLocks xmlns:a="http://schemas.openxmlformats.org/drawingml/2006/main" noGrp="1"/>
          </p:cNvSpPr>
          <p:nvPr/>
        </p:nvSpPr>
        <p:spPr>
          <a:xfrm xmlns:a="http://schemas.openxmlformats.org/drawingml/2006/main">
            <a:off x="4171950" y="48101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9AA6B5"/>
                </a:solidFill>
                <a:latin typeface="Aptos"/>
                <a:ea typeface="Aptos"/>
                <a:cs typeface="Aptos"/>
              </a:defRPr>
            </a:pPr>
            <a:r>
              <a:rPr sz="1050" b="0" i="0">
                <a:solidFill>
                  <a:srgbClr val="9AA6B5"/>
                </a:solidFill>
                <a:latin typeface="Aptos"/>
                <a:ea typeface="Aptos"/>
                <a:cs typeface="Aptos"/>
              </a:rPr>
              <a:t>Read-only tools, risk engine, verifier, SQLite incident ledger</a:t>
            </a:r>
          </a:p>
        </p:txBody>
      </p:sp>
      <p:sp>
        <p:nvSpPr>
          <p:cNvPr id="22" name="">
            <a:extLst xmlns:a="http://schemas.openxmlformats.org/drawingml/2006/main">
              <a:ext uri="{FF2B5EF4-FFF2-40B4-BE49-F238E27FC236}">
                <a16:creationId xmlns:a16="http://schemas.microsoft.com/office/drawing/2014/main" id="{CFF2D188-E7F6-4DD7-BDD6-DA915B5B379C}"/>
              </a:ext>
            </a:extLst>
          </p:cNvPr>
          <p:cNvSpPr>
            <a:spLocks xmlns:a="http://schemas.openxmlformats.org/drawingml/2006/main" noGrp="1"/>
          </p:cNvSpPr>
          <p:nvPr/>
        </p:nvSpPr>
        <p:spPr>
          <a:xfrm xmlns:a="http://schemas.openxmlformats.org/drawingml/2006/main">
            <a:off x="9429750" y="27432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ctr">
              <a:defRPr sz="975" b="1" i="0">
                <a:solidFill>
                  <a:srgbClr val="D3AF70"/>
                </a:solidFill>
                <a:latin typeface="Aptos Mono"/>
                <a:ea typeface="Aptos Mono"/>
                <a:cs typeface="Aptos Mono"/>
              </a:defRPr>
            </a:pPr>
            <a:r>
              <a:rPr sz="975" b="1" i="0">
                <a:solidFill>
                  <a:srgbClr val="D3AF70"/>
                </a:solidFill>
                <a:latin typeface="Aptos Mono"/>
                <a:ea typeface="Aptos Mono"/>
                <a:cs typeface="Aptos Mono"/>
              </a:rPr>
              <a:t>Safety boundary</a:t>
            </a:r>
          </a:p>
        </p:txBody>
      </p:sp>
      <p:sp>
        <p:nvSpPr>
          <p:cNvPr id="23" name="">
            <a:extLst xmlns:a="http://schemas.openxmlformats.org/drawingml/2006/main">
              <a:ext uri="{FF2B5EF4-FFF2-40B4-BE49-F238E27FC236}">
                <a16:creationId xmlns:a16="http://schemas.microsoft.com/office/drawing/2014/main" id="{C12B8B53-77D3-4094-9847-19E37773704C}"/>
              </a:ext>
            </a:extLst>
          </p:cNvPr>
          <p:cNvSpPr>
            <a:spLocks xmlns:a="http://schemas.openxmlformats.org/drawingml/2006/main" noGrp="1"/>
          </p:cNvSpPr>
          <p:nvPr/>
        </p:nvSpPr>
        <p:spPr>
          <a:xfrm xmlns:a="http://schemas.openxmlformats.org/drawingml/2006/main">
            <a:off x="9334500" y="3086100"/>
            <a:ext cx="1809750" cy="1066800"/>
          </a:xfrm>
          <a:prstGeom xmlns:a="http://schemas.openxmlformats.org/drawingml/2006/main" prst="roundRect">
            <a:avLst>
              <a:gd name="adj" fmla="val 10714"/>
            </a:avLst>
          </a:prstGeom>
          <a:solidFill xmlns:a="http://schemas.openxmlformats.org/drawingml/2006/main">
            <a:srgbClr val="171516"/>
          </a:solidFill>
          <a:ln xmlns:a="http://schemas.openxmlformats.org/drawingml/2006/main" w="9525">
            <a:solidFill>
              <a:srgbClr val="D3AF70"/>
            </a:solidFill>
            <a:prstDash val="solid"/>
          </a:ln>
        </p:spPr>
      </p:sp>
      <p:sp>
        <p:nvSpPr>
          <p:cNvPr id="24" name="">
            <a:extLst xmlns:a="http://schemas.openxmlformats.org/drawingml/2006/main">
              <a:ext uri="{FF2B5EF4-FFF2-40B4-BE49-F238E27FC236}">
                <a16:creationId xmlns:a16="http://schemas.microsoft.com/office/drawing/2014/main" id="{C10E0C05-29EF-450F-A35D-2DB36228A6EA}"/>
              </a:ext>
            </a:extLst>
          </p:cNvPr>
          <p:cNvSpPr>
            <a:spLocks xmlns:a="http://schemas.openxmlformats.org/drawingml/2006/main" noGrp="1"/>
          </p:cNvSpPr>
          <p:nvPr/>
        </p:nvSpPr>
        <p:spPr>
          <a:xfrm xmlns:a="http://schemas.openxmlformats.org/drawingml/2006/main">
            <a:off x="9525000" y="3352800"/>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36"/>
          </a:bodyPr>
          <a:lstStyle xmlns:a="http://schemas.openxmlformats.org/drawingml/2006/main"/>
          <a:p xmlns:a="http://schemas.openxmlformats.org/drawingml/2006/main">
            <a:pPr algn="ctr">
              <a:defRPr sz="1350" b="1" i="0">
                <a:solidFill>
                  <a:srgbClr val="F0F4F7"/>
                </a:solidFill>
                <a:latin typeface="Aptos"/>
                <a:ea typeface="Aptos"/>
                <a:cs typeface="Aptos"/>
              </a:defRPr>
            </a:pPr>
            <a:r>
              <a:rPr sz="1350" b="1" i="0">
                <a:solidFill>
                  <a:srgbClr val="F0F4F7"/>
                </a:solidFill>
                <a:latin typeface="Aptos"/>
                <a:ea typeface="Aptos"/>
                <a:cs typeface="Aptos"/>
              </a:rPr>
              <a:t>AI never executes</a:t>
            </a:r>
          </a:p>
          <a:p xmlns:a="http://schemas.openxmlformats.org/drawingml/2006/main">
            <a:pPr algn="ctr">
              <a:defRPr sz="1350" b="1" i="0">
                <a:solidFill>
                  <a:srgbClr val="F0F4F7"/>
                </a:solidFill>
                <a:latin typeface="Aptos"/>
                <a:ea typeface="Aptos"/>
                <a:cs typeface="Aptos"/>
              </a:defRPr>
            </a:pPr>
            <a:r>
              <a:rPr sz="1350" b="1" i="0">
                <a:solidFill>
                  <a:srgbClr val="F0F4F7"/>
                </a:solidFill>
                <a:latin typeface="Aptos"/>
                <a:ea typeface="Aptos"/>
                <a:cs typeface="Aptos"/>
              </a:rPr>
              <a:t>production change</a:t>
            </a:r>
          </a:p>
        </p:txBody>
      </p:sp>
    </p:spTree>
    <p:extLst>
      <p:ext uri="{BB962C8B-B14F-4D97-AF65-F5344CB8AC3E}">
        <p14:creationId xmlns:p14="http://schemas.microsoft.com/office/powerpoint/2010/main" val="1234089198"/>
      </p:ext>
    </p:extLst>
  </p:cSld>
</p:sld>
</file>

<file path=ppt/slides/slide8.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6F5E19E-9B86-4BEE-B007-06CA21455177}"/>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30E611-6ED6-4CB1-B739-E9F1AD2161AD}"/>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08</a:t>
            </a:r>
          </a:p>
        </p:txBody>
      </p:sp>
      <p:sp>
        <p:nvSpPr>
          <p:cNvPr id="3" name="">
            <a:extLst xmlns:a="http://schemas.openxmlformats.org/drawingml/2006/main">
              <a:ext uri="{FF2B5EF4-FFF2-40B4-BE49-F238E27FC236}">
                <a16:creationId xmlns:a16="http://schemas.microsoft.com/office/drawing/2014/main" id="{49EDBC39-1E9D-4FA1-B89E-1744E48F0523}"/>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The safety boundary is the USP</a:t>
            </a:r>
          </a:p>
        </p:txBody>
      </p:sp>
      <p:sp>
        <p:nvSpPr>
          <p:cNvPr id="4" name="">
            <a:extLst xmlns:a="http://schemas.openxmlformats.org/drawingml/2006/main">
              <a:ext uri="{FF2B5EF4-FFF2-40B4-BE49-F238E27FC236}">
                <a16:creationId xmlns:a16="http://schemas.microsoft.com/office/drawing/2014/main" id="{D8F9F7AE-298D-49FC-A4BF-8085CB09D149}"/>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The project treats AI as an investigator within an explicit control system.</a:t>
            </a:r>
          </a:p>
        </p:txBody>
      </p:sp>
      <p:sp>
        <p:nvSpPr>
          <p:cNvPr id="5" name="">
            <a:extLst xmlns:a="http://schemas.openxmlformats.org/drawingml/2006/main">
              <a:ext uri="{FF2B5EF4-FFF2-40B4-BE49-F238E27FC236}">
                <a16:creationId xmlns:a16="http://schemas.microsoft.com/office/drawing/2014/main" id="{C5F155FA-6418-40ED-B9EE-30D844C2C91E}"/>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91E41DB6-B817-4C68-919C-EDA86F176BE0}"/>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08</a:t>
            </a:r>
          </a:p>
        </p:txBody>
      </p:sp>
      <p:sp>
        <p:nvSpPr>
          <p:cNvPr id="7" name="">
            <a:extLst xmlns:a="http://schemas.openxmlformats.org/drawingml/2006/main">
              <a:ext uri="{FF2B5EF4-FFF2-40B4-BE49-F238E27FC236}">
                <a16:creationId xmlns:a16="http://schemas.microsoft.com/office/drawing/2014/main" id="{D48BDF67-7EBC-4C95-A78D-F85CEBC230A0}"/>
              </a:ext>
            </a:extLst>
          </p:cNvPr>
          <p:cNvSpPr>
            <a:spLocks xmlns:a="http://schemas.openxmlformats.org/drawingml/2006/main" noGrp="1"/>
          </p:cNvSpPr>
          <p:nvPr/>
        </p:nvSpPr>
        <p:spPr>
          <a:xfrm xmlns:a="http://schemas.openxmlformats.org/drawingml/2006/main">
            <a:off x="1381125" y="19431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ctr">
              <a:defRPr sz="1800" b="1" i="0">
                <a:solidFill>
                  <a:srgbClr val="9BC4D6"/>
                </a:solidFill>
                <a:latin typeface="Aptos"/>
                <a:ea typeface="Aptos"/>
                <a:cs typeface="Aptos"/>
              </a:defRPr>
            </a:pPr>
            <a:r>
              <a:rPr sz="1800" b="1" i="0">
                <a:solidFill>
                  <a:srgbClr val="9BC4D6"/>
                </a:solidFill>
                <a:latin typeface="Aptos"/>
                <a:ea typeface="Aptos"/>
                <a:cs typeface="Aptos"/>
              </a:rPr>
              <a:t>AI authority</a:t>
            </a:r>
          </a:p>
        </p:txBody>
      </p:sp>
      <p:sp>
        <p:nvSpPr>
          <p:cNvPr id="8" name="">
            <a:extLst xmlns:a="http://schemas.openxmlformats.org/drawingml/2006/main">
              <a:ext uri="{FF2B5EF4-FFF2-40B4-BE49-F238E27FC236}">
                <a16:creationId xmlns:a16="http://schemas.microsoft.com/office/drawing/2014/main" id="{ED89765D-8181-4C8B-9748-F0A3F1FE1601}"/>
              </a:ext>
            </a:extLst>
          </p:cNvPr>
          <p:cNvSpPr>
            <a:spLocks xmlns:a="http://schemas.openxmlformats.org/drawingml/2006/main" noGrp="1"/>
          </p:cNvSpPr>
          <p:nvPr/>
        </p:nvSpPr>
        <p:spPr>
          <a:xfrm xmlns:a="http://schemas.openxmlformats.org/drawingml/2006/main">
            <a:off x="7477125" y="19431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ctr">
              <a:defRPr sz="1800" b="1" i="0">
                <a:solidFill>
                  <a:srgbClr val="D3AF70"/>
                </a:solidFill>
                <a:latin typeface="Aptos"/>
                <a:ea typeface="Aptos"/>
                <a:cs typeface="Aptos"/>
              </a:defRPr>
            </a:pPr>
            <a:r>
              <a:rPr sz="1800" b="1" i="0">
                <a:solidFill>
                  <a:srgbClr val="D3AF70"/>
                </a:solidFill>
                <a:latin typeface="Aptos"/>
                <a:ea typeface="Aptos"/>
                <a:cs typeface="Aptos"/>
              </a:rPr>
              <a:t>System authority</a:t>
            </a:r>
          </a:p>
        </p:txBody>
      </p:sp>
      <p:sp>
        <p:nvSpPr>
          <p:cNvPr id="9" name="">
            <a:extLst xmlns:a="http://schemas.openxmlformats.org/drawingml/2006/main">
              <a:ext uri="{FF2B5EF4-FFF2-40B4-BE49-F238E27FC236}">
                <a16:creationId xmlns:a16="http://schemas.microsoft.com/office/drawing/2014/main" id="{DB04E7C8-5CED-45C7-961E-F38DE87742F7}"/>
              </a:ext>
            </a:extLst>
          </p:cNvPr>
          <p:cNvSpPr>
            <a:spLocks xmlns:a="http://schemas.openxmlformats.org/drawingml/2006/main" noGrp="1"/>
          </p:cNvSpPr>
          <p:nvPr/>
        </p:nvSpPr>
        <p:spPr>
          <a:xfrm xmlns:a="http://schemas.openxmlformats.org/drawingml/2006/main">
            <a:off x="1238250" y="2428875"/>
            <a:ext cx="3619500" cy="2305050"/>
          </a:xfrm>
          <a:prstGeom xmlns:a="http://schemas.openxmlformats.org/drawingml/2006/main" prst="roundRect">
            <a:avLst>
              <a:gd name="adj" fmla="val 4959"/>
            </a:avLst>
          </a:prstGeom>
          <a:solidFill xmlns:a="http://schemas.openxmlformats.org/drawingml/2006/main">
            <a:srgbClr val="131820"/>
          </a:solidFill>
          <a:ln xmlns:a="http://schemas.openxmlformats.org/drawingml/2006/main" w="9525">
            <a:solidFill>
              <a:srgbClr val="9BC4D6"/>
            </a:solidFill>
            <a:prstDash val="solid"/>
          </a:ln>
        </p:spPr>
      </p:sp>
      <p:sp>
        <p:nvSpPr>
          <p:cNvPr id="10" name="">
            <a:extLst xmlns:a="http://schemas.openxmlformats.org/drawingml/2006/main">
              <a:ext uri="{FF2B5EF4-FFF2-40B4-BE49-F238E27FC236}">
                <a16:creationId xmlns:a16="http://schemas.microsoft.com/office/drawing/2014/main" id="{43CD4369-03EA-4687-858B-3F521C5F7983}"/>
              </a:ext>
            </a:extLst>
          </p:cNvPr>
          <p:cNvSpPr>
            <a:spLocks xmlns:a="http://schemas.openxmlformats.org/drawingml/2006/main" noGrp="1"/>
          </p:cNvSpPr>
          <p:nvPr/>
        </p:nvSpPr>
        <p:spPr>
          <a:xfrm xmlns:a="http://schemas.openxmlformats.org/drawingml/2006/main">
            <a:off x="1638300" y="2895600"/>
            <a:ext cx="2819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0F4F7"/>
                </a:solidFill>
                <a:latin typeface="Aptos"/>
                <a:ea typeface="Aptos"/>
                <a:cs typeface="Aptos"/>
              </a:defRPr>
            </a:pPr>
            <a:r>
              <a:rPr sz="1500" b="1" i="0">
                <a:solidFill>
                  <a:srgbClr val="F0F4F7"/>
                </a:solidFill>
                <a:latin typeface="Aptos"/>
                <a:ea typeface="Aptos"/>
                <a:cs typeface="Aptos"/>
              </a:rPr>
              <a:t>Read evidence</a:t>
            </a:r>
          </a:p>
          <a:p xmlns:a="http://schemas.openxmlformats.org/drawingml/2006/main">
            <a:pPr algn="ctr">
              <a:defRPr sz="1500" b="1" i="0">
                <a:solidFill>
                  <a:srgbClr val="F0F4F7"/>
                </a:solidFill>
                <a:latin typeface="Aptos"/>
                <a:ea typeface="Aptos"/>
                <a:cs typeface="Aptos"/>
              </a:defRPr>
            </a:pPr>
            <a:r>
              <a:rPr sz="1500" b="1" i="0">
                <a:solidFill>
                  <a:srgbClr val="F0F4F7"/>
                </a:solidFill>
                <a:latin typeface="Aptos"/>
                <a:ea typeface="Aptos"/>
                <a:cs typeface="Aptos"/>
              </a:rPr>
              <a:t>Correlate signals</a:t>
            </a:r>
          </a:p>
          <a:p xmlns:a="http://schemas.openxmlformats.org/drawingml/2006/main">
            <a:pPr algn="ctr">
              <a:defRPr sz="1500" b="1" i="0">
                <a:solidFill>
                  <a:srgbClr val="F0F4F7"/>
                </a:solidFill>
                <a:latin typeface="Aptos"/>
                <a:ea typeface="Aptos"/>
                <a:cs typeface="Aptos"/>
              </a:defRPr>
            </a:pPr>
            <a:r>
              <a:rPr sz="1500" b="1" i="0">
                <a:solidFill>
                  <a:srgbClr val="F0F4F7"/>
                </a:solidFill>
                <a:latin typeface="Aptos"/>
                <a:ea typeface="Aptos"/>
                <a:cs typeface="Aptos"/>
              </a:rPr>
              <a:t>Explain root cause</a:t>
            </a:r>
          </a:p>
          <a:p xmlns:a="http://schemas.openxmlformats.org/drawingml/2006/main">
            <a:pPr algn="ctr">
              <a:defRPr sz="1500" b="1" i="0">
                <a:solidFill>
                  <a:srgbClr val="F0F4F7"/>
                </a:solidFill>
                <a:latin typeface="Aptos"/>
                <a:ea typeface="Aptos"/>
                <a:cs typeface="Aptos"/>
              </a:defRPr>
            </a:pPr>
            <a:r>
              <a:rPr sz="1500" b="1" i="0">
                <a:solidFill>
                  <a:srgbClr val="F0F4F7"/>
                </a:solidFill>
                <a:latin typeface="Aptos"/>
                <a:ea typeface="Aptos"/>
                <a:cs typeface="Aptos"/>
              </a:rPr>
              <a:t>Recommend action</a:t>
            </a:r>
          </a:p>
        </p:txBody>
      </p:sp>
      <p:sp>
        <p:nvSpPr>
          <p:cNvPr id="11" name="">
            <a:extLst xmlns:a="http://schemas.openxmlformats.org/drawingml/2006/main">
              <a:ext uri="{FF2B5EF4-FFF2-40B4-BE49-F238E27FC236}">
                <a16:creationId xmlns:a16="http://schemas.microsoft.com/office/drawing/2014/main" id="{3F38E025-7306-41C4-A17A-B364DA39F0AF}"/>
              </a:ext>
            </a:extLst>
          </p:cNvPr>
          <p:cNvSpPr>
            <a:spLocks xmlns:a="http://schemas.openxmlformats.org/drawingml/2006/main" noGrp="1"/>
          </p:cNvSpPr>
          <p:nvPr/>
        </p:nvSpPr>
        <p:spPr>
          <a:xfrm xmlns:a="http://schemas.openxmlformats.org/drawingml/2006/main">
            <a:off x="7334250" y="2428875"/>
            <a:ext cx="3619500" cy="2305050"/>
          </a:xfrm>
          <a:prstGeom xmlns:a="http://schemas.openxmlformats.org/drawingml/2006/main" prst="roundRect">
            <a:avLst>
              <a:gd name="adj" fmla="val 4959"/>
            </a:avLst>
          </a:prstGeom>
          <a:solidFill xmlns:a="http://schemas.openxmlformats.org/drawingml/2006/main">
            <a:srgbClr val="171516"/>
          </a:solidFill>
          <a:ln xmlns:a="http://schemas.openxmlformats.org/drawingml/2006/main" w="9525">
            <a:solidFill>
              <a:srgbClr val="D3AF70"/>
            </a:solidFill>
            <a:prstDash val="solid"/>
          </a:ln>
        </p:spPr>
      </p:sp>
      <p:sp>
        <p:nvSpPr>
          <p:cNvPr id="12" name="">
            <a:extLst xmlns:a="http://schemas.openxmlformats.org/drawingml/2006/main">
              <a:ext uri="{FF2B5EF4-FFF2-40B4-BE49-F238E27FC236}">
                <a16:creationId xmlns:a16="http://schemas.microsoft.com/office/drawing/2014/main" id="{CBA54322-2607-4895-8385-50E4CF4B5D45}"/>
              </a:ext>
            </a:extLst>
          </p:cNvPr>
          <p:cNvSpPr>
            <a:spLocks xmlns:a="http://schemas.openxmlformats.org/drawingml/2006/main" noGrp="1"/>
          </p:cNvSpPr>
          <p:nvPr/>
        </p:nvSpPr>
        <p:spPr>
          <a:xfrm xmlns:a="http://schemas.openxmlformats.org/drawingml/2006/main">
            <a:off x="7734300" y="2743200"/>
            <a:ext cx="28194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F0F4F7"/>
                </a:solidFill>
                <a:latin typeface="Aptos"/>
                <a:ea typeface="Aptos"/>
                <a:cs typeface="Aptos"/>
              </a:defRPr>
            </a:pPr>
            <a:r>
              <a:rPr sz="1425" b="1" i="0">
                <a:solidFill>
                  <a:srgbClr val="F0F4F7"/>
                </a:solidFill>
                <a:latin typeface="Aptos"/>
                <a:ea typeface="Aptos"/>
                <a:cs typeface="Aptos"/>
              </a:rPr>
              <a:t>Apply confidence policy</a:t>
            </a:r>
          </a:p>
          <a:p xmlns:a="http://schemas.openxmlformats.org/drawingml/2006/main">
            <a:pPr algn="ctr">
              <a:defRPr sz="1425" b="1" i="0">
                <a:solidFill>
                  <a:srgbClr val="F0F4F7"/>
                </a:solidFill>
                <a:latin typeface="Aptos"/>
                <a:ea typeface="Aptos"/>
                <a:cs typeface="Aptos"/>
              </a:defRPr>
            </a:pPr>
            <a:r>
              <a:rPr sz="1425" b="1" i="0">
                <a:solidFill>
                  <a:srgbClr val="F0F4F7"/>
                </a:solidFill>
                <a:latin typeface="Aptos"/>
                <a:ea typeface="Aptos"/>
                <a:cs typeface="Aptos"/>
              </a:rPr>
              <a:t>Classify risk</a:t>
            </a:r>
          </a:p>
          <a:p xmlns:a="http://schemas.openxmlformats.org/drawingml/2006/main">
            <a:pPr algn="ctr">
              <a:defRPr sz="1425" b="1" i="0">
                <a:solidFill>
                  <a:srgbClr val="F0F4F7"/>
                </a:solidFill>
                <a:latin typeface="Aptos"/>
                <a:ea typeface="Aptos"/>
                <a:cs typeface="Aptos"/>
              </a:defRPr>
            </a:pPr>
            <a:r>
              <a:rPr sz="1425" b="1" i="0">
                <a:solidFill>
                  <a:srgbClr val="F0F4F7"/>
                </a:solidFill>
                <a:latin typeface="Aptos"/>
                <a:ea typeface="Aptos"/>
                <a:cs typeface="Aptos"/>
              </a:rPr>
              <a:t>Require role-based approval</a:t>
            </a:r>
          </a:p>
          <a:p xmlns:a="http://schemas.openxmlformats.org/drawingml/2006/main">
            <a:pPr algn="ctr">
              <a:defRPr sz="1425" b="1" i="0">
                <a:solidFill>
                  <a:srgbClr val="F0F4F7"/>
                </a:solidFill>
                <a:latin typeface="Aptos"/>
                <a:ea typeface="Aptos"/>
                <a:cs typeface="Aptos"/>
              </a:defRPr>
            </a:pPr>
            <a:r>
              <a:rPr sz="1425" b="1" i="0">
                <a:solidFill>
                  <a:srgbClr val="F0F4F7"/>
                </a:solidFill>
                <a:latin typeface="Aptos"/>
                <a:ea typeface="Aptos"/>
                <a:cs typeface="Aptos"/>
              </a:rPr>
              <a:t>Verify recovery</a:t>
            </a:r>
          </a:p>
          <a:p xmlns:a="http://schemas.openxmlformats.org/drawingml/2006/main">
            <a:pPr algn="ctr">
              <a:defRPr sz="1425" b="1" i="0">
                <a:solidFill>
                  <a:srgbClr val="F0F4F7"/>
                </a:solidFill>
                <a:latin typeface="Aptos"/>
                <a:ea typeface="Aptos"/>
                <a:cs typeface="Aptos"/>
              </a:defRPr>
            </a:pPr>
            <a:r>
              <a:rPr sz="1425" b="1" i="0">
                <a:solidFill>
                  <a:srgbClr val="F0F4F7"/>
                </a:solidFill>
                <a:latin typeface="Aptos"/>
                <a:ea typeface="Aptos"/>
                <a:cs typeface="Aptos"/>
              </a:rPr>
              <a:t>Append audit event</a:t>
            </a:r>
          </a:p>
        </p:txBody>
      </p:sp>
      <p:sp>
        <p:nvSpPr>
          <p:cNvPr id="13" name="">
            <a:extLst xmlns:a="http://schemas.openxmlformats.org/drawingml/2006/main">
              <a:ext uri="{FF2B5EF4-FFF2-40B4-BE49-F238E27FC236}">
                <a16:creationId xmlns:a16="http://schemas.microsoft.com/office/drawing/2014/main" id="{91A8830E-ED79-46BC-B6D1-87EE9763072A}"/>
              </a:ext>
            </a:extLst>
          </p:cNvPr>
          <p:cNvSpPr>
            <a:spLocks xmlns:a="http://schemas.openxmlformats.org/drawingml/2006/main" noGrp="1"/>
          </p:cNvSpPr>
          <p:nvPr/>
        </p:nvSpPr>
        <p:spPr>
          <a:xfrm xmlns:a="http://schemas.openxmlformats.org/drawingml/2006/main">
            <a:off x="4857750" y="3571875"/>
            <a:ext cx="2476500" cy="2857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334F8ED-5F16-47D5-94E2-63700F0ACBA9}"/>
              </a:ext>
            </a:extLst>
          </p:cNvPr>
          <p:cNvSpPr>
            <a:spLocks xmlns:a="http://schemas.openxmlformats.org/drawingml/2006/main" noGrp="1"/>
          </p:cNvSpPr>
          <p:nvPr/>
        </p:nvSpPr>
        <p:spPr>
          <a:xfrm xmlns:a="http://schemas.openxmlformats.org/drawingml/2006/main">
            <a:off x="5410200" y="3238500"/>
            <a:ext cx="1371600" cy="647700"/>
          </a:xfrm>
          <a:prstGeom xmlns:a="http://schemas.openxmlformats.org/drawingml/2006/main" prst="roundRect">
            <a:avLst>
              <a:gd name="adj" fmla="val 17647"/>
            </a:avLst>
          </a:prstGeom>
          <a:solidFill xmlns:a="http://schemas.openxmlformats.org/drawingml/2006/main">
            <a:srgbClr val="0A0C0F"/>
          </a:solidFill>
          <a:ln xmlns:a="http://schemas.openxmlformats.org/drawingml/2006/main" w="9525">
            <a:solidFill>
              <a:srgbClr val="D3AF70"/>
            </a:solidFill>
            <a:prstDash val="solid"/>
          </a:ln>
        </p:spPr>
      </p:sp>
      <p:sp>
        <p:nvSpPr>
          <p:cNvPr id="15" name="">
            <a:extLst xmlns:a="http://schemas.openxmlformats.org/drawingml/2006/main">
              <a:ext uri="{FF2B5EF4-FFF2-40B4-BE49-F238E27FC236}">
                <a16:creationId xmlns:a16="http://schemas.microsoft.com/office/drawing/2014/main" id="{48212A75-227A-4C8F-9521-8404534A11A7}"/>
              </a:ext>
            </a:extLst>
          </p:cNvPr>
          <p:cNvSpPr>
            <a:spLocks xmlns:a="http://schemas.openxmlformats.org/drawingml/2006/main" noGrp="1"/>
          </p:cNvSpPr>
          <p:nvPr/>
        </p:nvSpPr>
        <p:spPr>
          <a:xfrm xmlns:a="http://schemas.openxmlformats.org/drawingml/2006/main">
            <a:off x="5524500" y="33718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ctr">
              <a:defRPr sz="975" b="1" i="0">
                <a:solidFill>
                  <a:srgbClr val="D3AF70"/>
                </a:solidFill>
                <a:latin typeface="Aptos Mono"/>
                <a:ea typeface="Aptos Mono"/>
                <a:cs typeface="Aptos Mono"/>
              </a:defRPr>
            </a:pPr>
            <a:r>
              <a:rPr sz="975" b="1" i="0">
                <a:solidFill>
                  <a:srgbClr val="D3AF70"/>
                </a:solidFill>
                <a:latin typeface="Aptos Mono"/>
                <a:ea typeface="Aptos Mono"/>
                <a:cs typeface="Aptos Mono"/>
              </a:rPr>
              <a:t>POLICY</a:t>
            </a:r>
          </a:p>
          <a:p xmlns:a="http://schemas.openxmlformats.org/drawingml/2006/main">
            <a:pPr algn="ctr">
              <a:defRPr sz="975" b="1" i="0">
                <a:solidFill>
                  <a:srgbClr val="D3AF70"/>
                </a:solidFill>
                <a:latin typeface="Aptos Mono"/>
                <a:ea typeface="Aptos Mono"/>
                <a:cs typeface="Aptos Mono"/>
              </a:defRPr>
            </a:pPr>
            <a:r>
              <a:rPr sz="975" b="1" i="0">
                <a:solidFill>
                  <a:srgbClr val="D3AF70"/>
                </a:solidFill>
                <a:latin typeface="Aptos Mono"/>
                <a:ea typeface="Aptos Mono"/>
                <a:cs typeface="Aptos Mono"/>
              </a:rPr>
              <a:t>GATE</a:t>
            </a:r>
          </a:p>
        </p:txBody>
      </p:sp>
    </p:spTree>
    <p:extLst>
      <p:ext uri="{BB962C8B-B14F-4D97-AF65-F5344CB8AC3E}">
        <p14:creationId xmlns:p14="http://schemas.microsoft.com/office/powerpoint/2010/main" val="1944313027"/>
      </p:ext>
    </p:extLst>
  </p:cSld>
</p:sld>
</file>

<file path=ppt/slides/slide9.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AC7EB5B-6AD9-477B-8167-77DCBD8E120D}"/>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0D8B6A-CA61-4A4F-AFB1-598153C7BA2E}"/>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09</a:t>
            </a:r>
          </a:p>
        </p:txBody>
      </p:sp>
      <p:sp>
        <p:nvSpPr>
          <p:cNvPr id="3" name="">
            <a:extLst xmlns:a="http://schemas.openxmlformats.org/drawingml/2006/main">
              <a:ext uri="{FF2B5EF4-FFF2-40B4-BE49-F238E27FC236}">
                <a16:creationId xmlns:a16="http://schemas.microsoft.com/office/drawing/2014/main" id="{1F568E01-4ABD-4721-956C-918C71F46548}"/>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The live demo experience</a:t>
            </a:r>
          </a:p>
        </p:txBody>
      </p:sp>
      <p:sp>
        <p:nvSpPr>
          <p:cNvPr id="4" name="">
            <a:extLst xmlns:a="http://schemas.openxmlformats.org/drawingml/2006/main">
              <a:ext uri="{FF2B5EF4-FFF2-40B4-BE49-F238E27FC236}">
                <a16:creationId xmlns:a16="http://schemas.microsoft.com/office/drawing/2014/main" id="{B77238C8-E9C6-4023-9A3F-562AE2779430}"/>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The strongest visual moment is a guided incident that makes the safety story visible.</a:t>
            </a:r>
          </a:p>
        </p:txBody>
      </p:sp>
      <p:sp>
        <p:nvSpPr>
          <p:cNvPr id="5" name="">
            <a:extLst xmlns:a="http://schemas.openxmlformats.org/drawingml/2006/main">
              <a:ext uri="{FF2B5EF4-FFF2-40B4-BE49-F238E27FC236}">
                <a16:creationId xmlns:a16="http://schemas.microsoft.com/office/drawing/2014/main" id="{5331CB92-4740-4F52-A32B-9C2CAD54903D}"/>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D2C14308-71D9-4383-90CA-499A2EAB709F}"/>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09</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969a809202947d4"/>
          <a:stretch xmlns:a="http://schemas.openxmlformats.org/drawingml/2006/main"/>
        </p:blipFill>
        <p:spPr>
          <a:xfrm xmlns:a="http://schemas.openxmlformats.org/drawingml/2006/main">
            <a:off x="762000" y="2033850"/>
            <a:ext cx="5810250" cy="3266550"/>
          </a:xfrm>
          <a:prstGeom xmlns:a="http://schemas.openxmlformats.org/drawingml/2006/main" prst="roundRect">
            <a:avLst>
              <a:gd name="adj" fmla="val 3077"/>
            </a:avLst>
          </a:prstGeom>
        </p:spPr>
      </p:pic>
      <p:sp>
        <p:nvSpPr>
          <p:cNvPr id="8" name="">
            <a:extLst xmlns:a="http://schemas.openxmlformats.org/drawingml/2006/main">
              <a:ext uri="{FF2B5EF4-FFF2-40B4-BE49-F238E27FC236}">
                <a16:creationId xmlns:a16="http://schemas.microsoft.com/office/drawing/2014/main" id="{50DC22DF-C5F7-4C5F-BA5C-7E0334CE4D6A}"/>
              </a:ext>
            </a:extLst>
          </p:cNvPr>
          <p:cNvSpPr>
            <a:spLocks xmlns:a="http://schemas.openxmlformats.org/drawingml/2006/main" noGrp="1"/>
          </p:cNvSpPr>
          <p:nvPr/>
        </p:nvSpPr>
        <p:spPr>
          <a:xfrm xmlns:a="http://schemas.openxmlformats.org/drawingml/2006/main">
            <a:off x="7239000" y="1866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01</a:t>
            </a:r>
          </a:p>
        </p:txBody>
      </p:sp>
      <p:sp>
        <p:nvSpPr>
          <p:cNvPr id="9" name="">
            <a:extLst xmlns:a="http://schemas.openxmlformats.org/drawingml/2006/main">
              <a:ext uri="{FF2B5EF4-FFF2-40B4-BE49-F238E27FC236}">
                <a16:creationId xmlns:a16="http://schemas.microsoft.com/office/drawing/2014/main" id="{045F2E90-B692-4523-92A9-461E4AAFC403}"/>
              </a:ext>
            </a:extLst>
          </p:cNvPr>
          <p:cNvSpPr>
            <a:spLocks xmlns:a="http://schemas.openxmlformats.org/drawingml/2006/main" noGrp="1"/>
          </p:cNvSpPr>
          <p:nvPr/>
        </p:nvSpPr>
        <p:spPr>
          <a:xfrm xmlns:a="http://schemas.openxmlformats.org/drawingml/2006/main">
            <a:off x="7772400" y="1847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1" i="0">
                <a:solidFill>
                  <a:srgbClr val="F0F4F7"/>
                </a:solidFill>
                <a:latin typeface="Aptos"/>
                <a:ea typeface="Aptos"/>
                <a:cs typeface="Aptos"/>
              </a:defRPr>
            </a:pPr>
            <a:r>
              <a:rPr sz="1275" b="1" i="0">
                <a:solidFill>
                  <a:srgbClr val="F0F4F7"/>
                </a:solidFill>
                <a:latin typeface="Aptos"/>
                <a:ea typeface="Aptos"/>
                <a:cs typeface="Aptos"/>
              </a:rPr>
              <a:t>Launch the 90-sec demo</a:t>
            </a:r>
          </a:p>
        </p:txBody>
      </p:sp>
      <p:sp>
        <p:nvSpPr>
          <p:cNvPr id="10" name="">
            <a:extLst xmlns:a="http://schemas.openxmlformats.org/drawingml/2006/main">
              <a:ext uri="{FF2B5EF4-FFF2-40B4-BE49-F238E27FC236}">
                <a16:creationId xmlns:a16="http://schemas.microsoft.com/office/drawing/2014/main" id="{99733D24-6936-4F23-A8EC-096D699E57A3}"/>
              </a:ext>
            </a:extLst>
          </p:cNvPr>
          <p:cNvSpPr>
            <a:spLocks xmlns:a="http://schemas.openxmlformats.org/drawingml/2006/main" noGrp="1"/>
          </p:cNvSpPr>
          <p:nvPr/>
        </p:nvSpPr>
        <p:spPr>
          <a:xfrm xmlns:a="http://schemas.openxmlformats.org/drawingml/2006/main">
            <a:off x="7772400" y="2228850"/>
            <a:ext cx="285750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CA4EE8-BDA7-4ABA-8239-CC5AD0E80833}"/>
              </a:ext>
            </a:extLst>
          </p:cNvPr>
          <p:cNvSpPr>
            <a:spLocks xmlns:a="http://schemas.openxmlformats.org/drawingml/2006/main" noGrp="1"/>
          </p:cNvSpPr>
          <p:nvPr/>
        </p:nvSpPr>
        <p:spPr>
          <a:xfrm xmlns:a="http://schemas.openxmlformats.org/drawingml/2006/main">
            <a:off x="7239000" y="25527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9B9FBE"/>
                </a:solidFill>
                <a:latin typeface="Aptos Mono"/>
                <a:ea typeface="Aptos Mono"/>
                <a:cs typeface="Aptos Mono"/>
              </a:defRPr>
            </a:pPr>
            <a:r>
              <a:rPr sz="900" b="1" i="0">
                <a:solidFill>
                  <a:srgbClr val="9B9FBE"/>
                </a:solidFill>
                <a:latin typeface="Aptos Mono"/>
                <a:ea typeface="Aptos Mono"/>
                <a:cs typeface="Aptos Mono"/>
              </a:rPr>
              <a:t>02</a:t>
            </a:r>
          </a:p>
        </p:txBody>
      </p:sp>
      <p:sp>
        <p:nvSpPr>
          <p:cNvPr id="12" name="">
            <a:extLst xmlns:a="http://schemas.openxmlformats.org/drawingml/2006/main">
              <a:ext uri="{FF2B5EF4-FFF2-40B4-BE49-F238E27FC236}">
                <a16:creationId xmlns:a16="http://schemas.microsoft.com/office/drawing/2014/main" id="{BEBECF3F-9D53-42DB-9F06-CF7AA2062B8C}"/>
              </a:ext>
            </a:extLst>
          </p:cNvPr>
          <p:cNvSpPr>
            <a:spLocks xmlns:a="http://schemas.openxmlformats.org/drawingml/2006/main" noGrp="1"/>
          </p:cNvSpPr>
          <p:nvPr/>
        </p:nvSpPr>
        <p:spPr>
          <a:xfrm xmlns:a="http://schemas.openxmlformats.org/drawingml/2006/main">
            <a:off x="7772400" y="2533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1" i="0">
                <a:solidFill>
                  <a:srgbClr val="F0F4F7"/>
                </a:solidFill>
                <a:latin typeface="Aptos"/>
                <a:ea typeface="Aptos"/>
                <a:cs typeface="Aptos"/>
              </a:defRPr>
            </a:pPr>
            <a:r>
              <a:rPr sz="1275" b="1" i="0">
                <a:solidFill>
                  <a:srgbClr val="F0F4F7"/>
                </a:solidFill>
                <a:latin typeface="Aptos"/>
                <a:ea typeface="Aptos"/>
                <a:cs typeface="Aptos"/>
              </a:rPr>
              <a:t>Review evidence and root cause</a:t>
            </a:r>
          </a:p>
        </p:txBody>
      </p:sp>
      <p:sp>
        <p:nvSpPr>
          <p:cNvPr id="13" name="">
            <a:extLst xmlns:a="http://schemas.openxmlformats.org/drawingml/2006/main">
              <a:ext uri="{FF2B5EF4-FFF2-40B4-BE49-F238E27FC236}">
                <a16:creationId xmlns:a16="http://schemas.microsoft.com/office/drawing/2014/main" id="{0252503B-4D8F-419F-89C4-3163A7DBD45B}"/>
              </a:ext>
            </a:extLst>
          </p:cNvPr>
          <p:cNvSpPr>
            <a:spLocks xmlns:a="http://schemas.openxmlformats.org/drawingml/2006/main" noGrp="1"/>
          </p:cNvSpPr>
          <p:nvPr/>
        </p:nvSpPr>
        <p:spPr>
          <a:xfrm xmlns:a="http://schemas.openxmlformats.org/drawingml/2006/main">
            <a:off x="7772400" y="2914650"/>
            <a:ext cx="285750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168AD3A-2FC7-4634-9323-8E34DB52944B}"/>
              </a:ext>
            </a:extLst>
          </p:cNvPr>
          <p:cNvSpPr>
            <a:spLocks xmlns:a="http://schemas.openxmlformats.org/drawingml/2006/main" noGrp="1"/>
          </p:cNvSpPr>
          <p:nvPr/>
        </p:nvSpPr>
        <p:spPr>
          <a:xfrm xmlns:a="http://schemas.openxmlformats.org/drawingml/2006/main">
            <a:off x="7239000" y="3238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D3AF70"/>
                </a:solidFill>
                <a:latin typeface="Aptos Mono"/>
                <a:ea typeface="Aptos Mono"/>
                <a:cs typeface="Aptos Mono"/>
              </a:defRPr>
            </a:pPr>
            <a:r>
              <a:rPr sz="900" b="1" i="0">
                <a:solidFill>
                  <a:srgbClr val="D3AF70"/>
                </a:solidFill>
                <a:latin typeface="Aptos Mono"/>
                <a:ea typeface="Aptos Mono"/>
                <a:cs typeface="Aptos Mono"/>
              </a:rPr>
              <a:t>03</a:t>
            </a:r>
          </a:p>
        </p:txBody>
      </p:sp>
      <p:sp>
        <p:nvSpPr>
          <p:cNvPr id="15" name="">
            <a:extLst xmlns:a="http://schemas.openxmlformats.org/drawingml/2006/main">
              <a:ext uri="{FF2B5EF4-FFF2-40B4-BE49-F238E27FC236}">
                <a16:creationId xmlns:a16="http://schemas.microsoft.com/office/drawing/2014/main" id="{548D8B6B-C987-4C9F-B343-D1E270668160}"/>
              </a:ext>
            </a:extLst>
          </p:cNvPr>
          <p:cNvSpPr>
            <a:spLocks xmlns:a="http://schemas.openxmlformats.org/drawingml/2006/main" noGrp="1"/>
          </p:cNvSpPr>
          <p:nvPr/>
        </p:nvSpPr>
        <p:spPr>
          <a:xfrm xmlns:a="http://schemas.openxmlformats.org/drawingml/2006/main">
            <a:off x="7772400" y="32194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1" i="0">
                <a:solidFill>
                  <a:srgbClr val="F0F4F7"/>
                </a:solidFill>
                <a:latin typeface="Aptos"/>
                <a:ea typeface="Aptos"/>
                <a:cs typeface="Aptos"/>
              </a:defRPr>
            </a:pPr>
            <a:r>
              <a:rPr sz="1275" b="1" i="0">
                <a:solidFill>
                  <a:srgbClr val="F0F4F7"/>
                </a:solidFill>
                <a:latin typeface="Aptos"/>
                <a:ea typeface="Aptos"/>
                <a:cs typeface="Aptos"/>
              </a:rPr>
              <a:t>See confidence, risk, and runbook</a:t>
            </a:r>
          </a:p>
        </p:txBody>
      </p:sp>
      <p:sp>
        <p:nvSpPr>
          <p:cNvPr id="16" name="">
            <a:extLst xmlns:a="http://schemas.openxmlformats.org/drawingml/2006/main">
              <a:ext uri="{FF2B5EF4-FFF2-40B4-BE49-F238E27FC236}">
                <a16:creationId xmlns:a16="http://schemas.microsoft.com/office/drawing/2014/main" id="{DBA26BA3-E86F-47C5-B550-D1292921E825}"/>
              </a:ext>
            </a:extLst>
          </p:cNvPr>
          <p:cNvSpPr>
            <a:spLocks xmlns:a="http://schemas.openxmlformats.org/drawingml/2006/main" noGrp="1"/>
          </p:cNvSpPr>
          <p:nvPr/>
        </p:nvSpPr>
        <p:spPr>
          <a:xfrm xmlns:a="http://schemas.openxmlformats.org/drawingml/2006/main">
            <a:off x="7772400" y="3600450"/>
            <a:ext cx="285750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6E195B8-F77D-4A4B-B744-197CC773EE2C}"/>
              </a:ext>
            </a:extLst>
          </p:cNvPr>
          <p:cNvSpPr>
            <a:spLocks xmlns:a="http://schemas.openxmlformats.org/drawingml/2006/main" noGrp="1"/>
          </p:cNvSpPr>
          <p:nvPr/>
        </p:nvSpPr>
        <p:spPr>
          <a:xfrm xmlns:a="http://schemas.openxmlformats.org/drawingml/2006/main">
            <a:off x="7239000" y="39243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7DB89D"/>
                </a:solidFill>
                <a:latin typeface="Aptos Mono"/>
                <a:ea typeface="Aptos Mono"/>
                <a:cs typeface="Aptos Mono"/>
              </a:defRPr>
            </a:pPr>
            <a:r>
              <a:rPr sz="900" b="1" i="0">
                <a:solidFill>
                  <a:srgbClr val="7DB89D"/>
                </a:solidFill>
                <a:latin typeface="Aptos Mono"/>
                <a:ea typeface="Aptos Mono"/>
                <a:cs typeface="Aptos Mono"/>
              </a:rPr>
              <a:t>04</a:t>
            </a:r>
          </a:p>
        </p:txBody>
      </p:sp>
      <p:sp>
        <p:nvSpPr>
          <p:cNvPr id="18" name="">
            <a:extLst xmlns:a="http://schemas.openxmlformats.org/drawingml/2006/main">
              <a:ext uri="{FF2B5EF4-FFF2-40B4-BE49-F238E27FC236}">
                <a16:creationId xmlns:a16="http://schemas.microsoft.com/office/drawing/2014/main" id="{024551BC-BE83-44B0-82B9-098AAB4480D3}"/>
              </a:ext>
            </a:extLst>
          </p:cNvPr>
          <p:cNvSpPr>
            <a:spLocks xmlns:a="http://schemas.openxmlformats.org/drawingml/2006/main" noGrp="1"/>
          </p:cNvSpPr>
          <p:nvPr/>
        </p:nvSpPr>
        <p:spPr>
          <a:xfrm xmlns:a="http://schemas.openxmlformats.org/drawingml/2006/main">
            <a:off x="7772400" y="39052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1" i="0">
                <a:solidFill>
                  <a:srgbClr val="F0F4F7"/>
                </a:solidFill>
                <a:latin typeface="Aptos"/>
                <a:ea typeface="Aptos"/>
                <a:cs typeface="Aptos"/>
              </a:defRPr>
            </a:pPr>
            <a:r>
              <a:rPr sz="1275" b="1" i="0">
                <a:solidFill>
                  <a:srgbClr val="F0F4F7"/>
                </a:solidFill>
                <a:latin typeface="Aptos"/>
                <a:ea typeface="Aptos"/>
                <a:cs typeface="Aptos"/>
              </a:rPr>
              <a:t>Approve, reject, or remediate manually</a:t>
            </a:r>
          </a:p>
        </p:txBody>
      </p:sp>
      <p:sp>
        <p:nvSpPr>
          <p:cNvPr id="19" name="">
            <a:extLst xmlns:a="http://schemas.openxmlformats.org/drawingml/2006/main">
              <a:ext uri="{FF2B5EF4-FFF2-40B4-BE49-F238E27FC236}">
                <a16:creationId xmlns:a16="http://schemas.microsoft.com/office/drawing/2014/main" id="{69AF4A98-283A-4807-B8EB-678674A09CD3}"/>
              </a:ext>
            </a:extLst>
          </p:cNvPr>
          <p:cNvSpPr>
            <a:spLocks xmlns:a="http://schemas.openxmlformats.org/drawingml/2006/main" noGrp="1"/>
          </p:cNvSpPr>
          <p:nvPr/>
        </p:nvSpPr>
        <p:spPr>
          <a:xfrm xmlns:a="http://schemas.openxmlformats.org/drawingml/2006/main">
            <a:off x="7772400" y="4286250"/>
            <a:ext cx="285750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E75DA30-7201-4AD1-B15D-AAC523F650DA}"/>
              </a:ext>
            </a:extLst>
          </p:cNvPr>
          <p:cNvSpPr>
            <a:spLocks xmlns:a="http://schemas.openxmlformats.org/drawingml/2006/main" noGrp="1"/>
          </p:cNvSpPr>
          <p:nvPr/>
        </p:nvSpPr>
        <p:spPr>
          <a:xfrm xmlns:a="http://schemas.openxmlformats.org/drawingml/2006/main">
            <a:off x="7239000" y="46101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7DB89D"/>
                </a:solidFill>
                <a:latin typeface="Aptos Mono"/>
                <a:ea typeface="Aptos Mono"/>
                <a:cs typeface="Aptos Mono"/>
              </a:defRPr>
            </a:pPr>
            <a:r>
              <a:rPr sz="900" b="1" i="0">
                <a:solidFill>
                  <a:srgbClr val="7DB89D"/>
                </a:solidFill>
                <a:latin typeface="Aptos Mono"/>
                <a:ea typeface="Aptos Mono"/>
                <a:cs typeface="Aptos Mono"/>
              </a:rPr>
              <a:t>05</a:t>
            </a:r>
          </a:p>
        </p:txBody>
      </p:sp>
      <p:sp>
        <p:nvSpPr>
          <p:cNvPr id="21" name="">
            <a:extLst xmlns:a="http://schemas.openxmlformats.org/drawingml/2006/main">
              <a:ext uri="{FF2B5EF4-FFF2-40B4-BE49-F238E27FC236}">
                <a16:creationId xmlns:a16="http://schemas.microsoft.com/office/drawing/2014/main" id="{11E2D18C-0F13-457A-9928-BD78E6487CD3}"/>
              </a:ext>
            </a:extLst>
          </p:cNvPr>
          <p:cNvSpPr>
            <a:spLocks xmlns:a="http://schemas.openxmlformats.org/drawingml/2006/main" noGrp="1"/>
          </p:cNvSpPr>
          <p:nvPr/>
        </p:nvSpPr>
        <p:spPr>
          <a:xfrm xmlns:a="http://schemas.openxmlformats.org/drawingml/2006/main">
            <a:off x="7772400" y="45910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1" i="0">
                <a:solidFill>
                  <a:srgbClr val="F0F4F7"/>
                </a:solidFill>
                <a:latin typeface="Aptos"/>
                <a:ea typeface="Aptos"/>
                <a:cs typeface="Aptos"/>
              </a:defRPr>
            </a:pPr>
            <a:r>
              <a:rPr sz="1275" b="1" i="0">
                <a:solidFill>
                  <a:srgbClr val="F0F4F7"/>
                </a:solidFill>
                <a:latin typeface="Aptos"/>
                <a:ea typeface="Aptos"/>
                <a:cs typeface="Aptos"/>
              </a:rPr>
              <a:t>Verify recovery and review the ledger</a:t>
            </a:r>
          </a:p>
        </p:txBody>
      </p:sp>
      <p:sp>
        <p:nvSpPr>
          <p:cNvPr id="22" name="">
            <a:extLst xmlns:a="http://schemas.openxmlformats.org/drawingml/2006/main">
              <a:ext uri="{FF2B5EF4-FFF2-40B4-BE49-F238E27FC236}">
                <a16:creationId xmlns:a16="http://schemas.microsoft.com/office/drawing/2014/main" id="{6EE933F6-3CF7-445A-8753-775287A1A98F}"/>
              </a:ext>
            </a:extLst>
          </p:cNvPr>
          <p:cNvSpPr>
            <a:spLocks xmlns:a="http://schemas.openxmlformats.org/drawingml/2006/main" noGrp="1"/>
          </p:cNvSpPr>
          <p:nvPr/>
        </p:nvSpPr>
        <p:spPr>
          <a:xfrm xmlns:a="http://schemas.openxmlformats.org/drawingml/2006/main">
            <a:off x="7772400" y="4972050"/>
            <a:ext cx="285750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Tree>
    <p:extLst>
      <p:ext uri="{BB962C8B-B14F-4D97-AF65-F5344CB8AC3E}">
        <p14:creationId xmlns:p14="http://schemas.microsoft.com/office/powerpoint/2010/main" val="328275795"/>
      </p:ext>
    </p:extLst>
  </p:cSld>
</p:sld>
</file>

<file path=ppt/slides/slide10.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5E47403-401B-46D7-8D4F-082DC0ECA99C}"/>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792E1D-CF8A-43B5-97DB-58E353BF91C5}"/>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10</a:t>
            </a:r>
          </a:p>
        </p:txBody>
      </p:sp>
      <p:sp>
        <p:nvSpPr>
          <p:cNvPr id="3" name="">
            <a:extLst xmlns:a="http://schemas.openxmlformats.org/drawingml/2006/main">
              <a:ext uri="{FF2B5EF4-FFF2-40B4-BE49-F238E27FC236}">
                <a16:creationId xmlns:a16="http://schemas.microsoft.com/office/drawing/2014/main" id="{22CF637D-FE78-438E-A957-2C926D932233}"/>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Impact and scalability</a:t>
            </a:r>
          </a:p>
        </p:txBody>
      </p:sp>
      <p:sp>
        <p:nvSpPr>
          <p:cNvPr id="4" name="">
            <a:extLst xmlns:a="http://schemas.openxmlformats.org/drawingml/2006/main">
              <a:ext uri="{FF2B5EF4-FFF2-40B4-BE49-F238E27FC236}">
                <a16:creationId xmlns:a16="http://schemas.microsoft.com/office/drawing/2014/main" id="{F8EF2D70-4ADF-42BC-B9AA-4683165A94C4}"/>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The product targets teams that need faster understanding without surrendering production control.</a:t>
            </a:r>
          </a:p>
        </p:txBody>
      </p:sp>
      <p:sp>
        <p:nvSpPr>
          <p:cNvPr id="5" name="">
            <a:extLst xmlns:a="http://schemas.openxmlformats.org/drawingml/2006/main">
              <a:ext uri="{FF2B5EF4-FFF2-40B4-BE49-F238E27FC236}">
                <a16:creationId xmlns:a16="http://schemas.microsoft.com/office/drawing/2014/main" id="{CB3A77F7-CF24-416E-8D93-19DD27EE7B41}"/>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5BBB05A7-8656-4AEF-9940-2D2304DB05ED}"/>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10</a:t>
            </a:r>
          </a:p>
        </p:txBody>
      </p:sp>
      <p:sp>
        <p:nvSpPr>
          <p:cNvPr id="7" name="">
            <a:extLst xmlns:a="http://schemas.openxmlformats.org/drawingml/2006/main">
              <a:ext uri="{FF2B5EF4-FFF2-40B4-BE49-F238E27FC236}">
                <a16:creationId xmlns:a16="http://schemas.microsoft.com/office/drawing/2014/main" id="{FD3BFACB-C512-423D-8395-F259112E9C19}"/>
              </a:ext>
            </a:extLst>
          </p:cNvPr>
          <p:cNvSpPr>
            <a:spLocks xmlns:a="http://schemas.openxmlformats.org/drawingml/2006/main" noGrp="1"/>
          </p:cNvSpPr>
          <p:nvPr/>
        </p:nvSpPr>
        <p:spPr>
          <a:xfrm xmlns:a="http://schemas.openxmlformats.org/drawingml/2006/main">
            <a:off x="1123950" y="195262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F0F4F7"/>
                </a:solidFill>
                <a:latin typeface="Aptos"/>
                <a:ea typeface="Aptos"/>
                <a:cs typeface="Aptos"/>
              </a:defRPr>
            </a:pPr>
            <a:r>
              <a:rPr sz="1500" b="1" i="0">
                <a:solidFill>
                  <a:srgbClr val="F0F4F7"/>
                </a:solidFill>
                <a:latin typeface="Aptos"/>
                <a:ea typeface="Aptos"/>
                <a:cs typeface="Aptos"/>
              </a:rPr>
              <a:t>On-call SRE</a:t>
            </a:r>
          </a:p>
        </p:txBody>
      </p:sp>
      <p:sp>
        <p:nvSpPr>
          <p:cNvPr id="8" name="">
            <a:extLst xmlns:a="http://schemas.openxmlformats.org/drawingml/2006/main">
              <a:ext uri="{FF2B5EF4-FFF2-40B4-BE49-F238E27FC236}">
                <a16:creationId xmlns:a16="http://schemas.microsoft.com/office/drawing/2014/main" id="{7019DAC0-0174-46D0-B567-B8DDDE04B855}"/>
              </a:ext>
            </a:extLst>
          </p:cNvPr>
          <p:cNvSpPr>
            <a:spLocks xmlns:a="http://schemas.openxmlformats.org/drawingml/2006/main" noGrp="1"/>
          </p:cNvSpPr>
          <p:nvPr/>
        </p:nvSpPr>
        <p:spPr>
          <a:xfrm xmlns:a="http://schemas.openxmlformats.org/drawingml/2006/main">
            <a:off x="3581400" y="1971675"/>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0" i="0">
                <a:solidFill>
                  <a:srgbClr val="9AA6B5"/>
                </a:solidFill>
                <a:latin typeface="Aptos"/>
                <a:ea typeface="Aptos"/>
                <a:cs typeface="Aptos"/>
              </a:defRPr>
            </a:pPr>
            <a:r>
              <a:rPr sz="1125" b="0" i="0">
                <a:solidFill>
                  <a:srgbClr val="9AA6B5"/>
                </a:solidFill>
                <a:latin typeface="Aptos"/>
                <a:ea typeface="Aptos"/>
                <a:cs typeface="Aptos"/>
              </a:rPr>
              <a:t>One evidence trail during a high-pressure incident</a:t>
            </a:r>
          </a:p>
        </p:txBody>
      </p:sp>
      <p:sp>
        <p:nvSpPr>
          <p:cNvPr id="9" name="">
            <a:extLst xmlns:a="http://schemas.openxmlformats.org/drawingml/2006/main">
              <a:ext uri="{FF2B5EF4-FFF2-40B4-BE49-F238E27FC236}">
                <a16:creationId xmlns:a16="http://schemas.microsoft.com/office/drawing/2014/main" id="{C40C8A50-49F0-4060-B79C-BC6E66D9098D}"/>
              </a:ext>
            </a:extLst>
          </p:cNvPr>
          <p:cNvSpPr>
            <a:spLocks xmlns:a="http://schemas.openxmlformats.org/drawingml/2006/main" noGrp="1"/>
          </p:cNvSpPr>
          <p:nvPr/>
        </p:nvSpPr>
        <p:spPr>
          <a:xfrm xmlns:a="http://schemas.openxmlformats.org/drawingml/2006/main">
            <a:off x="1123950" y="2428875"/>
            <a:ext cx="647700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FB2197-6C13-4727-99A1-DCD9B253C903}"/>
              </a:ext>
            </a:extLst>
          </p:cNvPr>
          <p:cNvSpPr>
            <a:spLocks xmlns:a="http://schemas.openxmlformats.org/drawingml/2006/main" noGrp="1"/>
          </p:cNvSpPr>
          <p:nvPr/>
        </p:nvSpPr>
        <p:spPr>
          <a:xfrm xmlns:a="http://schemas.openxmlformats.org/drawingml/2006/main">
            <a:off x="1123950" y="282892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F0F4F7"/>
                </a:solidFill>
                <a:latin typeface="Aptos"/>
                <a:ea typeface="Aptos"/>
                <a:cs typeface="Aptos"/>
              </a:defRPr>
            </a:pPr>
            <a:r>
              <a:rPr sz="1500" b="1" i="0">
                <a:solidFill>
                  <a:srgbClr val="F0F4F7"/>
                </a:solidFill>
                <a:latin typeface="Aptos"/>
                <a:ea typeface="Aptos"/>
                <a:cs typeface="Aptos"/>
              </a:rPr>
              <a:t>Incident Commander</a:t>
            </a:r>
          </a:p>
        </p:txBody>
      </p:sp>
      <p:sp>
        <p:nvSpPr>
          <p:cNvPr id="11" name="">
            <a:extLst xmlns:a="http://schemas.openxmlformats.org/drawingml/2006/main">
              <a:ext uri="{FF2B5EF4-FFF2-40B4-BE49-F238E27FC236}">
                <a16:creationId xmlns:a16="http://schemas.microsoft.com/office/drawing/2014/main" id="{6BD340A8-38E4-477F-8471-82B79A5A0ABF}"/>
              </a:ext>
            </a:extLst>
          </p:cNvPr>
          <p:cNvSpPr>
            <a:spLocks xmlns:a="http://schemas.openxmlformats.org/drawingml/2006/main" noGrp="1"/>
          </p:cNvSpPr>
          <p:nvPr/>
        </p:nvSpPr>
        <p:spPr>
          <a:xfrm xmlns:a="http://schemas.openxmlformats.org/drawingml/2006/main">
            <a:off x="3581400" y="2847975"/>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0" i="0">
                <a:solidFill>
                  <a:srgbClr val="9AA6B5"/>
                </a:solidFill>
                <a:latin typeface="Aptos"/>
                <a:ea typeface="Aptos"/>
                <a:cs typeface="Aptos"/>
              </a:defRPr>
            </a:pPr>
            <a:r>
              <a:rPr sz="1125" b="0" i="0">
                <a:solidFill>
                  <a:srgbClr val="9AA6B5"/>
                </a:solidFill>
                <a:latin typeface="Aptos"/>
                <a:ea typeface="Aptos"/>
                <a:cs typeface="Aptos"/>
              </a:rPr>
              <a:t>A visible approval boundary and ownership record</a:t>
            </a:r>
          </a:p>
        </p:txBody>
      </p:sp>
      <p:sp>
        <p:nvSpPr>
          <p:cNvPr id="12" name="">
            <a:extLst xmlns:a="http://schemas.openxmlformats.org/drawingml/2006/main">
              <a:ext uri="{FF2B5EF4-FFF2-40B4-BE49-F238E27FC236}">
                <a16:creationId xmlns:a16="http://schemas.microsoft.com/office/drawing/2014/main" id="{A6C2153E-565D-4DB9-8953-DB76EA8B726B}"/>
              </a:ext>
            </a:extLst>
          </p:cNvPr>
          <p:cNvSpPr>
            <a:spLocks xmlns:a="http://schemas.openxmlformats.org/drawingml/2006/main" noGrp="1"/>
          </p:cNvSpPr>
          <p:nvPr/>
        </p:nvSpPr>
        <p:spPr>
          <a:xfrm xmlns:a="http://schemas.openxmlformats.org/drawingml/2006/main">
            <a:off x="1123950" y="3305175"/>
            <a:ext cx="647700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BE102C-35E5-497D-97FF-41CC6CCCBF5E}"/>
              </a:ext>
            </a:extLst>
          </p:cNvPr>
          <p:cNvSpPr>
            <a:spLocks xmlns:a="http://schemas.openxmlformats.org/drawingml/2006/main" noGrp="1"/>
          </p:cNvSpPr>
          <p:nvPr/>
        </p:nvSpPr>
        <p:spPr>
          <a:xfrm xmlns:a="http://schemas.openxmlformats.org/drawingml/2006/main">
            <a:off x="1123950" y="370522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F0F4F7"/>
                </a:solidFill>
                <a:latin typeface="Aptos"/>
                <a:ea typeface="Aptos"/>
                <a:cs typeface="Aptos"/>
              </a:defRPr>
            </a:pPr>
            <a:r>
              <a:rPr sz="1500" b="1" i="0">
                <a:solidFill>
                  <a:srgbClr val="F0F4F7"/>
                </a:solidFill>
                <a:latin typeface="Aptos"/>
                <a:ea typeface="Aptos"/>
                <a:cs typeface="Aptos"/>
              </a:rPr>
              <a:t>Platform Team</a:t>
            </a:r>
          </a:p>
        </p:txBody>
      </p:sp>
      <p:sp>
        <p:nvSpPr>
          <p:cNvPr id="14" name="">
            <a:extLst xmlns:a="http://schemas.openxmlformats.org/drawingml/2006/main">
              <a:ext uri="{FF2B5EF4-FFF2-40B4-BE49-F238E27FC236}">
                <a16:creationId xmlns:a16="http://schemas.microsoft.com/office/drawing/2014/main" id="{D0945FD6-75D7-439F-9874-FFADF04EF48E}"/>
              </a:ext>
            </a:extLst>
          </p:cNvPr>
          <p:cNvSpPr>
            <a:spLocks xmlns:a="http://schemas.openxmlformats.org/drawingml/2006/main" noGrp="1"/>
          </p:cNvSpPr>
          <p:nvPr/>
        </p:nvSpPr>
        <p:spPr>
          <a:xfrm xmlns:a="http://schemas.openxmlformats.org/drawingml/2006/main">
            <a:off x="3581400" y="3724275"/>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0" i="0">
                <a:solidFill>
                  <a:srgbClr val="9AA6B5"/>
                </a:solidFill>
                <a:latin typeface="Aptos"/>
                <a:ea typeface="Aptos"/>
                <a:cs typeface="Aptos"/>
              </a:defRPr>
            </a:pPr>
            <a:r>
              <a:rPr sz="1125" b="0" i="0">
                <a:solidFill>
                  <a:srgbClr val="9AA6B5"/>
                </a:solidFill>
                <a:latin typeface="Aptos"/>
                <a:ea typeface="Aptos"/>
                <a:cs typeface="Aptos"/>
              </a:rPr>
              <a:t>A searchable ledger for review and learning</a:t>
            </a:r>
          </a:p>
        </p:txBody>
      </p:sp>
      <p:sp>
        <p:nvSpPr>
          <p:cNvPr id="15" name="">
            <a:extLst xmlns:a="http://schemas.openxmlformats.org/drawingml/2006/main">
              <a:ext uri="{FF2B5EF4-FFF2-40B4-BE49-F238E27FC236}">
                <a16:creationId xmlns:a16="http://schemas.microsoft.com/office/drawing/2014/main" id="{28151E2C-A158-4188-A876-F8DA37537454}"/>
              </a:ext>
            </a:extLst>
          </p:cNvPr>
          <p:cNvSpPr>
            <a:spLocks xmlns:a="http://schemas.openxmlformats.org/drawingml/2006/main" noGrp="1"/>
          </p:cNvSpPr>
          <p:nvPr/>
        </p:nvSpPr>
        <p:spPr>
          <a:xfrm xmlns:a="http://schemas.openxmlformats.org/drawingml/2006/main">
            <a:off x="1123950" y="4181475"/>
            <a:ext cx="6477000" cy="9525"/>
          </a:xfrm>
          <a:prstGeom xmlns:a="http://schemas.openxmlformats.org/drawingml/2006/main" prst="rect">
            <a:avLst/>
          </a:prstGeom>
          <a:solidFill xmlns:a="http://schemas.openxmlformats.org/drawingml/2006/main">
            <a:srgbClr val="303A4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017D6C6-C6EB-4274-9359-6EC3EF2DEA20}"/>
              </a:ext>
            </a:extLst>
          </p:cNvPr>
          <p:cNvSpPr>
            <a:spLocks xmlns:a="http://schemas.openxmlformats.org/drawingml/2006/main" noGrp="1"/>
          </p:cNvSpPr>
          <p:nvPr/>
        </p:nvSpPr>
        <p:spPr>
          <a:xfrm xmlns:a="http://schemas.openxmlformats.org/drawingml/2006/main">
            <a:off x="8305800" y="19621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9BC4D6"/>
                </a:solidFill>
                <a:latin typeface="Aptos"/>
                <a:ea typeface="Aptos"/>
                <a:cs typeface="Aptos"/>
              </a:defRPr>
            </a:pPr>
            <a:r>
              <a:rPr sz="1650" b="1" i="0">
                <a:solidFill>
                  <a:srgbClr val="9BC4D6"/>
                </a:solidFill>
                <a:latin typeface="Aptos"/>
                <a:ea typeface="Aptos"/>
                <a:cs typeface="Aptos"/>
              </a:rPr>
              <a:t>Scale path</a:t>
            </a:r>
          </a:p>
        </p:txBody>
      </p:sp>
      <p:sp>
        <p:nvSpPr>
          <p:cNvPr id="17" name="">
            <a:extLst xmlns:a="http://schemas.openxmlformats.org/drawingml/2006/main">
              <a:ext uri="{FF2B5EF4-FFF2-40B4-BE49-F238E27FC236}">
                <a16:creationId xmlns:a16="http://schemas.microsoft.com/office/drawing/2014/main" id="{B127B57C-2F61-437C-8E53-2F4BFF1D0DE4}"/>
              </a:ext>
            </a:extLst>
          </p:cNvPr>
          <p:cNvSpPr>
            <a:spLocks xmlns:a="http://schemas.openxmlformats.org/drawingml/2006/main" noGrp="1"/>
          </p:cNvSpPr>
          <p:nvPr/>
        </p:nvSpPr>
        <p:spPr>
          <a:xfrm xmlns:a="http://schemas.openxmlformats.org/drawingml/2006/main">
            <a:off x="8305800" y="2457450"/>
            <a:ext cx="2571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491"/>
          </a:bodyPr>
          <a:lstStyle xmlns:a="http://schemas.openxmlformats.org/drawingml/2006/main"/>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Replace simulation adapters with</a:t>
            </a:r>
          </a:p>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monitoring, deployment, and</a:t>
            </a:r>
          </a:p>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notification integrations.</a:t>
            </a:r>
          </a:p>
          <a:p xmlns:a="http://schemas.openxmlformats.org/drawingml/2006/main">
            <a:r>
              <a:t/>
            </a:r>
          </a:p>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Persist incident records in</a:t>
            </a:r>
          </a:p>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production-grade shared storage.</a:t>
            </a:r>
          </a:p>
        </p:txBody>
      </p:sp>
      <p:sp>
        <p:nvSpPr>
          <p:cNvPr id="18" name="">
            <a:extLst xmlns:a="http://schemas.openxmlformats.org/drawingml/2006/main">
              <a:ext uri="{FF2B5EF4-FFF2-40B4-BE49-F238E27FC236}">
                <a16:creationId xmlns:a16="http://schemas.microsoft.com/office/drawing/2014/main" id="{98EE427E-EBBA-4520-9B1D-19AFEA35D851}"/>
              </a:ext>
            </a:extLst>
          </p:cNvPr>
          <p:cNvSpPr>
            <a:spLocks xmlns:a="http://schemas.openxmlformats.org/drawingml/2006/main" noGrp="1"/>
          </p:cNvSpPr>
          <p:nvPr/>
        </p:nvSpPr>
        <p:spPr>
          <a:xfrm xmlns:a="http://schemas.openxmlformats.org/drawingml/2006/main">
            <a:off x="1143000" y="5257800"/>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450"/>
          </a:bodyPr>
          <a:lstStyle xmlns:a="http://schemas.openxmlformats.org/drawingml/2006/main"/>
          <a:p xmlns:a="http://schemas.openxmlformats.org/drawingml/2006/main">
            <a:pPr algn="ctr">
              <a:defRPr sz="1125" b="0" i="1">
                <a:solidFill>
                  <a:srgbClr val="D3AF70"/>
                </a:solidFill>
                <a:latin typeface="Aptos"/>
                <a:ea typeface="Aptos"/>
                <a:cs typeface="Aptos"/>
              </a:defRPr>
            </a:pPr>
            <a:r>
              <a:rPr sz="1125" b="0" i="1">
                <a:solidFill>
                  <a:srgbClr val="D3AF70"/>
                </a:solidFill>
                <a:latin typeface="Aptos"/>
                <a:ea typeface="Aptos"/>
                <a:cs typeface="Aptos"/>
              </a:rPr>
              <a:t>Expected operational value must be validated with a pilot. The prototype demonstrates the workflow and its safety controls, not performance claims.</a:t>
            </a:r>
          </a:p>
        </p:txBody>
      </p:sp>
    </p:spTree>
    <p:extLst>
      <p:ext uri="{BB962C8B-B14F-4D97-AF65-F5344CB8AC3E}">
        <p14:creationId xmlns:p14="http://schemas.microsoft.com/office/powerpoint/2010/main" val="400436975"/>
      </p:ext>
    </p:extLst>
  </p:cSld>
</p:sld>
</file>

<file path=ppt/slides/slide11.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4EE07FB-07C9-4FA0-B583-D2D55A4B1ADE}"/>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9FF8FE-B29F-49B4-968D-699454DBBDB0}"/>
              </a:ext>
            </a:extLst>
          </p:cNvPr>
          <p:cNvSpPr>
            <a:spLocks xmlns:a="http://schemas.openxmlformats.org/drawingml/2006/main" noGrp="1"/>
          </p:cNvSpPr>
          <p:nvPr/>
        </p:nvSpPr>
        <p:spPr>
          <a:xfrm xmlns:a="http://schemas.openxmlformats.org/drawingml/2006/main">
            <a:off x="685800" y="4000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1" i="0">
                <a:solidFill>
                  <a:srgbClr val="9BC4D6"/>
                </a:solidFill>
                <a:latin typeface="Aptos Mono"/>
                <a:ea typeface="Aptos Mono"/>
                <a:cs typeface="Aptos Mono"/>
              </a:defRPr>
            </a:pPr>
            <a:r>
              <a:rPr sz="900" b="1" i="0">
                <a:solidFill>
                  <a:srgbClr val="9BC4D6"/>
                </a:solidFill>
                <a:latin typeface="Aptos Mono"/>
                <a:ea typeface="Aptos Mono"/>
                <a:cs typeface="Aptos Mono"/>
              </a:rPr>
              <a:t>11</a:t>
            </a:r>
          </a:p>
        </p:txBody>
      </p:sp>
      <p:sp>
        <p:nvSpPr>
          <p:cNvPr id="3" name="">
            <a:extLst xmlns:a="http://schemas.openxmlformats.org/drawingml/2006/main">
              <a:ext uri="{FF2B5EF4-FFF2-40B4-BE49-F238E27FC236}">
                <a16:creationId xmlns:a16="http://schemas.microsoft.com/office/drawing/2014/main" id="{3B06DBC1-4B2C-42E7-8389-4BD322206026}"/>
              </a:ext>
            </a:extLst>
          </p:cNvPr>
          <p:cNvSpPr>
            <a:spLocks xmlns:a="http://schemas.openxmlformats.org/drawingml/2006/main" noGrp="1"/>
          </p:cNvSpPr>
          <p:nvPr/>
        </p:nvSpPr>
        <p:spPr>
          <a:xfrm xmlns:a="http://schemas.openxmlformats.org/drawingml/2006/main">
            <a:off x="685800" y="6858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F0F4F7"/>
                </a:solidFill>
                <a:latin typeface="Aptos"/>
                <a:ea typeface="Aptos"/>
                <a:cs typeface="Aptos"/>
              </a:defRPr>
            </a:pPr>
            <a:r>
              <a:rPr sz="2400" b="1" i="0">
                <a:solidFill>
                  <a:srgbClr val="F0F4F7"/>
                </a:solidFill>
                <a:latin typeface="Aptos"/>
                <a:ea typeface="Aptos"/>
                <a:cs typeface="Aptos"/>
              </a:rPr>
              <a:t>Roadmap to production</a:t>
            </a:r>
          </a:p>
        </p:txBody>
      </p:sp>
      <p:sp>
        <p:nvSpPr>
          <p:cNvPr id="4" name="">
            <a:extLst xmlns:a="http://schemas.openxmlformats.org/drawingml/2006/main">
              <a:ext uri="{FF2B5EF4-FFF2-40B4-BE49-F238E27FC236}">
                <a16:creationId xmlns:a16="http://schemas.microsoft.com/office/drawing/2014/main" id="{937FC200-1AB5-4745-9D76-8E6929F1F02C}"/>
              </a:ext>
            </a:extLst>
          </p:cNvPr>
          <p:cNvSpPr>
            <a:spLocks xmlns:a="http://schemas.openxmlformats.org/drawingml/2006/main" noGrp="1"/>
          </p:cNvSpPr>
          <p:nvPr/>
        </p:nvSpPr>
        <p:spPr>
          <a:xfrm xmlns:a="http://schemas.openxmlformats.org/drawingml/2006/main">
            <a:off x="685800" y="12573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9AA6B5"/>
                </a:solidFill>
                <a:latin typeface="Aptos"/>
                <a:ea typeface="Aptos"/>
                <a:cs typeface="Aptos"/>
              </a:defRPr>
            </a:pPr>
            <a:r>
              <a:rPr sz="1200" b="0" i="0">
                <a:solidFill>
                  <a:srgbClr val="9AA6B5"/>
                </a:solidFill>
                <a:latin typeface="Aptos"/>
                <a:ea typeface="Aptos"/>
                <a:cs typeface="Aptos"/>
              </a:rPr>
              <a:t>The demo architecture points to clear next steps without overstating current integrations.</a:t>
            </a:r>
          </a:p>
        </p:txBody>
      </p:sp>
      <p:sp>
        <p:nvSpPr>
          <p:cNvPr id="5" name="">
            <a:extLst xmlns:a="http://schemas.openxmlformats.org/drawingml/2006/main">
              <a:ext uri="{FF2B5EF4-FFF2-40B4-BE49-F238E27FC236}">
                <a16:creationId xmlns:a16="http://schemas.microsoft.com/office/drawing/2014/main" id="{0464D7FC-271A-4DF6-AB76-34C1301466FA}"/>
              </a:ext>
            </a:extLst>
          </p:cNvPr>
          <p:cNvSpPr>
            <a:spLocks xmlns:a="http://schemas.openxmlformats.org/drawingml/2006/main" noGrp="1"/>
          </p:cNvSpPr>
          <p:nvPr/>
        </p:nvSpPr>
        <p:spPr>
          <a:xfrm xmlns:a="http://schemas.openxmlformats.org/drawingml/2006/main">
            <a:off x="68580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DEVOPS COPILOT  |  HACKATHON PRESENTATION</a:t>
            </a:r>
          </a:p>
        </p:txBody>
      </p:sp>
      <p:sp>
        <p:nvSpPr>
          <p:cNvPr id="6" name="">
            <a:extLst xmlns:a="http://schemas.openxmlformats.org/drawingml/2006/main">
              <a:ext uri="{FF2B5EF4-FFF2-40B4-BE49-F238E27FC236}">
                <a16:creationId xmlns:a16="http://schemas.microsoft.com/office/drawing/2014/main" id="{6AA08829-9796-4FFC-A10D-FAE4E2A884D7}"/>
              </a:ext>
            </a:extLst>
          </p:cNvPr>
          <p:cNvSpPr>
            <a:spLocks xmlns:a="http://schemas.openxmlformats.org/drawingml/2006/main" noGrp="1"/>
          </p:cNvSpPr>
          <p:nvPr/>
        </p:nvSpPr>
        <p:spPr>
          <a:xfrm xmlns:a="http://schemas.openxmlformats.org/drawingml/2006/main">
            <a:off x="110490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r">
              <a:defRPr sz="675" b="0" i="0">
                <a:solidFill>
                  <a:srgbClr val="657181"/>
                </a:solidFill>
                <a:latin typeface="Aptos Mono"/>
                <a:ea typeface="Aptos Mono"/>
                <a:cs typeface="Aptos Mono"/>
              </a:defRPr>
            </a:pPr>
            <a:r>
              <a:rPr sz="675" b="0" i="0">
                <a:solidFill>
                  <a:srgbClr val="657181"/>
                </a:solidFill>
                <a:latin typeface="Aptos Mono"/>
                <a:ea typeface="Aptos Mono"/>
                <a:cs typeface="Aptos Mono"/>
              </a:rPr>
              <a:t>11</a:t>
            </a:r>
          </a:p>
        </p:txBody>
      </p:sp>
      <p:sp>
        <p:nvSpPr>
          <p:cNvPr id="7" name="">
            <a:extLst xmlns:a="http://schemas.openxmlformats.org/drawingml/2006/main">
              <a:ext uri="{FF2B5EF4-FFF2-40B4-BE49-F238E27FC236}">
                <a16:creationId xmlns:a16="http://schemas.microsoft.com/office/drawing/2014/main" id="{6FD8DAAD-8339-4C81-AAC8-8809D3652224}"/>
              </a:ext>
            </a:extLst>
          </p:cNvPr>
          <p:cNvSpPr>
            <a:spLocks xmlns:a="http://schemas.openxmlformats.org/drawingml/2006/main" noGrp="1"/>
          </p:cNvSpPr>
          <p:nvPr/>
        </p:nvSpPr>
        <p:spPr>
          <a:xfrm xmlns:a="http://schemas.openxmlformats.org/drawingml/2006/main">
            <a:off x="952500" y="21145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lgn="l">
              <a:defRPr sz="1725" b="1" i="0">
                <a:solidFill>
                  <a:srgbClr val="9BC4D6"/>
                </a:solidFill>
                <a:latin typeface="Aptos"/>
                <a:ea typeface="Aptos"/>
                <a:cs typeface="Aptos"/>
              </a:defRPr>
            </a:pPr>
            <a:r>
              <a:rPr sz="1725" b="1" i="0">
                <a:solidFill>
                  <a:srgbClr val="9BC4D6"/>
                </a:solidFill>
                <a:latin typeface="Aptos"/>
                <a:ea typeface="Aptos"/>
                <a:cs typeface="Aptos"/>
              </a:rPr>
              <a:t>Next</a:t>
            </a:r>
          </a:p>
        </p:txBody>
      </p:sp>
      <p:sp>
        <p:nvSpPr>
          <p:cNvPr id="8" name="">
            <a:extLst xmlns:a="http://schemas.openxmlformats.org/drawingml/2006/main">
              <a:ext uri="{FF2B5EF4-FFF2-40B4-BE49-F238E27FC236}">
                <a16:creationId xmlns:a16="http://schemas.microsoft.com/office/drawing/2014/main" id="{D419F992-CFBE-4AEF-A5B8-1C3867CC397E}"/>
              </a:ext>
            </a:extLst>
          </p:cNvPr>
          <p:cNvSpPr>
            <a:spLocks xmlns:a="http://schemas.openxmlformats.org/drawingml/2006/main" noGrp="1"/>
          </p:cNvSpPr>
          <p:nvPr/>
        </p:nvSpPr>
        <p:spPr>
          <a:xfrm xmlns:a="http://schemas.openxmlformats.org/drawingml/2006/main">
            <a:off x="952500" y="2571750"/>
            <a:ext cx="2619375" cy="28575"/>
          </a:xfrm>
          <a:prstGeom xmlns:a="http://schemas.openxmlformats.org/drawingml/2006/main" prst="rect">
            <a:avLst/>
          </a:prstGeom>
          <a:solidFill xmlns:a="http://schemas.openxmlformats.org/drawingml/2006/main">
            <a:srgbClr val="9BC4D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FA6CA4-302F-4EDF-8727-7B634C116591}"/>
              </a:ext>
            </a:extLst>
          </p:cNvPr>
          <p:cNvSpPr>
            <a:spLocks xmlns:a="http://schemas.openxmlformats.org/drawingml/2006/main" noGrp="1"/>
          </p:cNvSpPr>
          <p:nvPr/>
        </p:nvSpPr>
        <p:spPr>
          <a:xfrm xmlns:a="http://schemas.openxmlformats.org/drawingml/2006/main">
            <a:off x="952500" y="2914650"/>
            <a:ext cx="2647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Connect live observability and deployment systems</a:t>
            </a:r>
          </a:p>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Add real Slack, Teams, PagerDuty, and email adapters</a:t>
            </a:r>
          </a:p>
        </p:txBody>
      </p:sp>
      <p:sp>
        <p:nvSpPr>
          <p:cNvPr id="10" name="">
            <a:extLst xmlns:a="http://schemas.openxmlformats.org/drawingml/2006/main">
              <a:ext uri="{FF2B5EF4-FFF2-40B4-BE49-F238E27FC236}">
                <a16:creationId xmlns:a16="http://schemas.microsoft.com/office/drawing/2014/main" id="{CB54924C-A1DE-4D2B-8A22-4EA26ECD8B13}"/>
              </a:ext>
            </a:extLst>
          </p:cNvPr>
          <p:cNvSpPr>
            <a:spLocks xmlns:a="http://schemas.openxmlformats.org/drawingml/2006/main" noGrp="1"/>
          </p:cNvSpPr>
          <p:nvPr/>
        </p:nvSpPr>
        <p:spPr>
          <a:xfrm xmlns:a="http://schemas.openxmlformats.org/drawingml/2006/main">
            <a:off x="4476750" y="21145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lgn="l">
              <a:defRPr sz="1725" b="1" i="0">
                <a:solidFill>
                  <a:srgbClr val="D3AF70"/>
                </a:solidFill>
                <a:latin typeface="Aptos"/>
                <a:ea typeface="Aptos"/>
                <a:cs typeface="Aptos"/>
              </a:defRPr>
            </a:pPr>
            <a:r>
              <a:rPr sz="1725" b="1" i="0">
                <a:solidFill>
                  <a:srgbClr val="D3AF70"/>
                </a:solidFill>
                <a:latin typeface="Aptos"/>
                <a:ea typeface="Aptos"/>
                <a:cs typeface="Aptos"/>
              </a:rPr>
              <a:t>Then</a:t>
            </a:r>
          </a:p>
        </p:txBody>
      </p:sp>
      <p:sp>
        <p:nvSpPr>
          <p:cNvPr id="11" name="">
            <a:extLst xmlns:a="http://schemas.openxmlformats.org/drawingml/2006/main">
              <a:ext uri="{FF2B5EF4-FFF2-40B4-BE49-F238E27FC236}">
                <a16:creationId xmlns:a16="http://schemas.microsoft.com/office/drawing/2014/main" id="{6A9D6B72-302A-4D75-8E0B-A30E22E5879D}"/>
              </a:ext>
            </a:extLst>
          </p:cNvPr>
          <p:cNvSpPr>
            <a:spLocks xmlns:a="http://schemas.openxmlformats.org/drawingml/2006/main" noGrp="1"/>
          </p:cNvSpPr>
          <p:nvPr/>
        </p:nvSpPr>
        <p:spPr>
          <a:xfrm xmlns:a="http://schemas.openxmlformats.org/drawingml/2006/main">
            <a:off x="4476750" y="2571750"/>
            <a:ext cx="2619375" cy="28575"/>
          </a:xfrm>
          <a:prstGeom xmlns:a="http://schemas.openxmlformats.org/drawingml/2006/main" prst="rect">
            <a:avLst/>
          </a:prstGeom>
          <a:solidFill xmlns:a="http://schemas.openxmlformats.org/drawingml/2006/main">
            <a:srgbClr val="D3AF7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B5C19F-20E3-472F-80B8-B30065B4D2D4}"/>
              </a:ext>
            </a:extLst>
          </p:cNvPr>
          <p:cNvSpPr>
            <a:spLocks xmlns:a="http://schemas.openxmlformats.org/drawingml/2006/main" noGrp="1"/>
          </p:cNvSpPr>
          <p:nvPr/>
        </p:nvSpPr>
        <p:spPr>
          <a:xfrm xmlns:a="http://schemas.openxmlformats.org/drawingml/2006/main">
            <a:off x="4476750" y="2914650"/>
            <a:ext cx="2647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Deploy shared database storage</a:t>
            </a:r>
          </a:p>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Add sign-in, RBAC, and organization-specific runbooks</a:t>
            </a:r>
          </a:p>
        </p:txBody>
      </p:sp>
      <p:sp>
        <p:nvSpPr>
          <p:cNvPr id="13" name="">
            <a:extLst xmlns:a="http://schemas.openxmlformats.org/drawingml/2006/main">
              <a:ext uri="{FF2B5EF4-FFF2-40B4-BE49-F238E27FC236}">
                <a16:creationId xmlns:a16="http://schemas.microsoft.com/office/drawing/2014/main" id="{F8510C59-EC52-4B13-9527-B64828114094}"/>
              </a:ext>
            </a:extLst>
          </p:cNvPr>
          <p:cNvSpPr>
            <a:spLocks xmlns:a="http://schemas.openxmlformats.org/drawingml/2006/main" noGrp="1"/>
          </p:cNvSpPr>
          <p:nvPr/>
        </p:nvSpPr>
        <p:spPr>
          <a:xfrm xmlns:a="http://schemas.openxmlformats.org/drawingml/2006/main">
            <a:off x="8001000" y="21145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lgn="l">
              <a:defRPr sz="1725" b="1" i="0">
                <a:solidFill>
                  <a:srgbClr val="7DB89D"/>
                </a:solidFill>
                <a:latin typeface="Aptos"/>
                <a:ea typeface="Aptos"/>
                <a:cs typeface="Aptos"/>
              </a:defRPr>
            </a:pPr>
            <a:r>
              <a:rPr sz="1725" b="1" i="0">
                <a:solidFill>
                  <a:srgbClr val="7DB89D"/>
                </a:solidFill>
                <a:latin typeface="Aptos"/>
                <a:ea typeface="Aptos"/>
                <a:cs typeface="Aptos"/>
              </a:rPr>
              <a:t>Later</a:t>
            </a:r>
          </a:p>
        </p:txBody>
      </p:sp>
      <p:sp>
        <p:nvSpPr>
          <p:cNvPr id="14" name="">
            <a:extLst xmlns:a="http://schemas.openxmlformats.org/drawingml/2006/main">
              <a:ext uri="{FF2B5EF4-FFF2-40B4-BE49-F238E27FC236}">
                <a16:creationId xmlns:a16="http://schemas.microsoft.com/office/drawing/2014/main" id="{751E4DD0-DB5A-4725-9105-FC3E7BCE9ED1}"/>
              </a:ext>
            </a:extLst>
          </p:cNvPr>
          <p:cNvSpPr>
            <a:spLocks xmlns:a="http://schemas.openxmlformats.org/drawingml/2006/main" noGrp="1"/>
          </p:cNvSpPr>
          <p:nvPr/>
        </p:nvSpPr>
        <p:spPr>
          <a:xfrm xmlns:a="http://schemas.openxmlformats.org/drawingml/2006/main">
            <a:off x="8001000" y="2571750"/>
            <a:ext cx="2619375" cy="28575"/>
          </a:xfrm>
          <a:prstGeom xmlns:a="http://schemas.openxmlformats.org/drawingml/2006/main" prst="rect">
            <a:avLst/>
          </a:prstGeom>
          <a:solidFill xmlns:a="http://schemas.openxmlformats.org/drawingml/2006/main">
            <a:srgbClr val="7DB89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419C76F-7A8C-4DEA-90ED-AE1EA0AC7459}"/>
              </a:ext>
            </a:extLst>
          </p:cNvPr>
          <p:cNvSpPr>
            <a:spLocks xmlns:a="http://schemas.openxmlformats.org/drawingml/2006/main" noGrp="1"/>
          </p:cNvSpPr>
          <p:nvPr/>
        </p:nvSpPr>
        <p:spPr>
          <a:xfrm xmlns:a="http://schemas.openxmlformats.org/drawingml/2006/main">
            <a:off x="8001000" y="2914650"/>
            <a:ext cx="2647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Model service dependencies from live topology</a:t>
            </a:r>
          </a:p>
          <a:p xmlns:a="http://schemas.openxmlformats.org/drawingml/2006/main">
            <a:pPr algn="l">
              <a:defRPr sz="1275" b="0" i="0">
                <a:solidFill>
                  <a:srgbClr val="9AA6B5"/>
                </a:solidFill>
                <a:latin typeface="Aptos"/>
                <a:ea typeface="Aptos"/>
                <a:cs typeface="Aptos"/>
              </a:defRPr>
            </a:pPr>
            <a:r>
              <a:rPr sz="1275" b="0" i="0">
                <a:solidFill>
                  <a:srgbClr val="9AA6B5"/>
                </a:solidFill>
                <a:latin typeface="Aptos"/>
                <a:ea typeface="Aptos"/>
                <a:cs typeface="Aptos"/>
              </a:rPr>
              <a:t>Add post-incident learning and evaluation workflows</a:t>
            </a:r>
          </a:p>
        </p:txBody>
      </p:sp>
      <p:sp>
        <p:nvSpPr>
          <p:cNvPr id="16" name="">
            <a:extLst xmlns:a="http://schemas.openxmlformats.org/drawingml/2006/main">
              <a:ext uri="{FF2B5EF4-FFF2-40B4-BE49-F238E27FC236}">
                <a16:creationId xmlns:a16="http://schemas.microsoft.com/office/drawing/2014/main" id="{9AF0525C-B037-4892-9346-561D3B82A7D4}"/>
              </a:ext>
            </a:extLst>
          </p:cNvPr>
          <p:cNvSpPr>
            <a:spLocks xmlns:a="http://schemas.openxmlformats.org/drawingml/2006/main" noGrp="1"/>
          </p:cNvSpPr>
          <p:nvPr/>
        </p:nvSpPr>
        <p:spPr>
          <a:xfrm xmlns:a="http://schemas.openxmlformats.org/drawingml/2006/main">
            <a:off x="1409700" y="5000625"/>
            <a:ext cx="933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642"/>
          </a:bodyPr>
          <a:lstStyle xmlns:a="http://schemas.openxmlformats.org/drawingml/2006/main"/>
          <a:p xmlns:a="http://schemas.openxmlformats.org/drawingml/2006/main">
            <a:pPr algn="ctr">
              <a:defRPr sz="1350" b="1" i="0">
                <a:solidFill>
                  <a:srgbClr val="F0F4F7"/>
                </a:solidFill>
                <a:latin typeface="Aptos"/>
                <a:ea typeface="Aptos"/>
                <a:cs typeface="Aptos"/>
              </a:defRPr>
            </a:pPr>
            <a:r>
              <a:rPr sz="1350" b="1" i="0">
                <a:solidFill>
                  <a:srgbClr val="F0F4F7"/>
                </a:solidFill>
                <a:latin typeface="Aptos"/>
                <a:ea typeface="Aptos"/>
                <a:cs typeface="Aptos"/>
              </a:rPr>
              <a:t>Current prototype: simulated infrastructure, simulated notification adapters, durable local ledger, and external-integration-ready interfaces.</a:t>
            </a:r>
          </a:p>
        </p:txBody>
      </p:sp>
    </p:spTree>
    <p:extLst>
      <p:ext uri="{BB962C8B-B14F-4D97-AF65-F5344CB8AC3E}">
        <p14:creationId xmlns:p14="http://schemas.microsoft.com/office/powerpoint/2010/main" val="2006839014"/>
      </p:ext>
    </p:extLst>
  </p:cSld>
</p:sld>
</file>

<file path=ppt/slides/slide12.xml><?xml version="1.0" encoding="utf-8"?>
<p:sld xmlns:p="http://schemas.openxmlformats.org/presentationml/2006/main">
  <p:cSld>
    <p:bg>
      <p:bgPr>
        <a:solidFill xmlns:a="http://schemas.openxmlformats.org/drawingml/2006/main">
          <a:srgbClr val="0A0C0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6EAD79-AD0A-42C0-8513-C7B5F9474177}"/>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7DB89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988BA7-257E-4D5E-AC39-031CA45E51AC}"/>
              </a:ext>
            </a:extLst>
          </p:cNvPr>
          <p:cNvSpPr>
            <a:spLocks xmlns:a="http://schemas.openxmlformats.org/drawingml/2006/main" noGrp="1"/>
          </p:cNvSpPr>
          <p:nvPr/>
        </p:nvSpPr>
        <p:spPr>
          <a:xfrm xmlns:a="http://schemas.openxmlformats.org/drawingml/2006/main">
            <a:off x="876300" y="9525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7DB89D"/>
                </a:solidFill>
                <a:latin typeface="Aptos Mono"/>
                <a:ea typeface="Aptos Mono"/>
                <a:cs typeface="Aptos Mono"/>
              </a:defRPr>
            </a:pPr>
            <a:r>
              <a:rPr sz="1200" b="1" i="0">
                <a:solidFill>
                  <a:srgbClr val="7DB89D"/>
                </a:solidFill>
                <a:latin typeface="Aptos Mono"/>
                <a:ea typeface="Aptos Mono"/>
                <a:cs typeface="Aptos Mono"/>
              </a:rPr>
              <a:t>DEVOPS COPILOT</a:t>
            </a:r>
          </a:p>
        </p:txBody>
      </p:sp>
      <p:sp>
        <p:nvSpPr>
          <p:cNvPr id="3" name="">
            <a:extLst xmlns:a="http://schemas.openxmlformats.org/drawingml/2006/main">
              <a:ext uri="{FF2B5EF4-FFF2-40B4-BE49-F238E27FC236}">
                <a16:creationId xmlns:a16="http://schemas.microsoft.com/office/drawing/2014/main" id="{36C2E4C9-7D46-4A2B-BF20-FF70C6B75C01}"/>
              </a:ext>
            </a:extLst>
          </p:cNvPr>
          <p:cNvSpPr>
            <a:spLocks xmlns:a="http://schemas.openxmlformats.org/drawingml/2006/main" noGrp="1"/>
          </p:cNvSpPr>
          <p:nvPr/>
        </p:nvSpPr>
        <p:spPr>
          <a:xfrm xmlns:a="http://schemas.openxmlformats.org/drawingml/2006/main">
            <a:off x="876300" y="1524000"/>
            <a:ext cx="7239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654"/>
          </a:bodyPr>
          <a:lstStyle xmlns:a="http://schemas.openxmlformats.org/drawingml/2006/main"/>
          <a:p xmlns:a="http://schemas.openxmlformats.org/drawingml/2006/main">
            <a:pPr algn="l">
              <a:defRPr sz="4050" b="1" i="0">
                <a:solidFill>
                  <a:srgbClr val="F0F4F7"/>
                </a:solidFill>
                <a:latin typeface="Aptos"/>
                <a:ea typeface="Aptos"/>
                <a:cs typeface="Aptos"/>
              </a:defRPr>
            </a:pPr>
            <a:r>
              <a:rPr sz="4050" b="1" i="0">
                <a:solidFill>
                  <a:srgbClr val="F0F4F7"/>
                </a:solidFill>
                <a:latin typeface="Aptos"/>
                <a:ea typeface="Aptos"/>
                <a:cs typeface="Aptos"/>
              </a:rPr>
              <a:t>Fast investigation.</a:t>
            </a:r>
          </a:p>
          <a:p xmlns:a="http://schemas.openxmlformats.org/drawingml/2006/main">
            <a:pPr algn="l">
              <a:defRPr sz="4050" b="1" i="0">
                <a:solidFill>
                  <a:srgbClr val="F0F4F7"/>
                </a:solidFill>
                <a:latin typeface="Aptos"/>
                <a:ea typeface="Aptos"/>
                <a:cs typeface="Aptos"/>
              </a:defRPr>
            </a:pPr>
            <a:r>
              <a:rPr sz="4050" b="1" i="0">
                <a:solidFill>
                  <a:srgbClr val="F0F4F7"/>
                </a:solidFill>
                <a:latin typeface="Aptos"/>
                <a:ea typeface="Aptos"/>
                <a:cs typeface="Aptos"/>
              </a:rPr>
              <a:t>Controlled action.</a:t>
            </a:r>
          </a:p>
          <a:p xmlns:a="http://schemas.openxmlformats.org/drawingml/2006/main">
            <a:pPr algn="l">
              <a:defRPr sz="4050" b="1" i="0">
                <a:solidFill>
                  <a:srgbClr val="F0F4F7"/>
                </a:solidFill>
                <a:latin typeface="Aptos"/>
                <a:ea typeface="Aptos"/>
                <a:cs typeface="Aptos"/>
              </a:defRPr>
            </a:pPr>
            <a:r>
              <a:rPr sz="4050" b="1" i="0">
                <a:solidFill>
                  <a:srgbClr val="F0F4F7"/>
                </a:solidFill>
                <a:latin typeface="Aptos"/>
                <a:ea typeface="Aptos"/>
                <a:cs typeface="Aptos"/>
              </a:rPr>
              <a:t>Verified recovery.</a:t>
            </a:r>
          </a:p>
        </p:txBody>
      </p:sp>
      <p:sp>
        <p:nvSpPr>
          <p:cNvPr id="4" name="">
            <a:extLst xmlns:a="http://schemas.openxmlformats.org/drawingml/2006/main">
              <a:ext uri="{FF2B5EF4-FFF2-40B4-BE49-F238E27FC236}">
                <a16:creationId xmlns:a16="http://schemas.microsoft.com/office/drawing/2014/main" id="{551D80C7-B51F-483A-8B24-55ED558ADA65}"/>
              </a:ext>
            </a:extLst>
          </p:cNvPr>
          <p:cNvSpPr>
            <a:spLocks xmlns:a="http://schemas.openxmlformats.org/drawingml/2006/main" noGrp="1"/>
          </p:cNvSpPr>
          <p:nvPr/>
        </p:nvSpPr>
        <p:spPr>
          <a:xfrm xmlns:a="http://schemas.openxmlformats.org/drawingml/2006/main">
            <a:off x="914400" y="37147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defRPr sz="1650" b="0" i="0">
                <a:solidFill>
                  <a:srgbClr val="9AA6B5"/>
                </a:solidFill>
                <a:latin typeface="Aptos"/>
                <a:ea typeface="Aptos"/>
                <a:cs typeface="Aptos"/>
              </a:defRPr>
            </a:pPr>
            <a:r>
              <a:rPr sz="1650" b="0" i="0">
                <a:solidFill>
                  <a:srgbClr val="9AA6B5"/>
                </a:solidFill>
                <a:latin typeface="Aptos"/>
                <a:ea typeface="Aptos"/>
                <a:cs typeface="Aptos"/>
              </a:rPr>
              <a:t>The takeaway: use AI to accelerate understanding while deterministic policy and human approval protect production change.</a:t>
            </a:r>
          </a:p>
        </p:txBody>
      </p:sp>
      <p:sp>
        <p:nvSpPr>
          <p:cNvPr id="5" name="">
            <a:extLst xmlns:a="http://schemas.openxmlformats.org/drawingml/2006/main">
              <a:ext uri="{FF2B5EF4-FFF2-40B4-BE49-F238E27FC236}">
                <a16:creationId xmlns:a16="http://schemas.microsoft.com/office/drawing/2014/main" id="{62B8452A-D04B-4706-8E64-D1A404A20C83}"/>
              </a:ext>
            </a:extLst>
          </p:cNvPr>
          <p:cNvSpPr>
            <a:spLocks xmlns:a="http://schemas.openxmlformats.org/drawingml/2006/main" noGrp="1"/>
          </p:cNvSpPr>
          <p:nvPr/>
        </p:nvSpPr>
        <p:spPr>
          <a:xfrm xmlns:a="http://schemas.openxmlformats.org/drawingml/2006/main">
            <a:off x="8572500" y="1581150"/>
            <a:ext cx="2095500" cy="2381250"/>
          </a:xfrm>
          <a:prstGeom xmlns:a="http://schemas.openxmlformats.org/drawingml/2006/main" prst="roundRect">
            <a:avLst>
              <a:gd name="adj" fmla="val 5455"/>
            </a:avLst>
          </a:prstGeom>
          <a:solidFill xmlns:a="http://schemas.openxmlformats.org/drawingml/2006/main">
            <a:srgbClr val="131820"/>
          </a:solidFill>
          <a:ln xmlns:a="http://schemas.openxmlformats.org/drawingml/2006/main" w="9525">
            <a:solidFill>
              <a:srgbClr val="7DB89D"/>
            </a:solidFill>
            <a:prstDash val="solid"/>
          </a:ln>
        </p:spPr>
      </p:sp>
      <p:sp>
        <p:nvSpPr>
          <p:cNvPr id="6" name="">
            <a:extLst xmlns:a="http://schemas.openxmlformats.org/drawingml/2006/main">
              <a:ext uri="{FF2B5EF4-FFF2-40B4-BE49-F238E27FC236}">
                <a16:creationId xmlns:a16="http://schemas.microsoft.com/office/drawing/2014/main" id="{64186BF2-721F-4253-9BCC-11B8C6BFE6AB}"/>
              </a:ext>
            </a:extLst>
          </p:cNvPr>
          <p:cNvSpPr>
            <a:spLocks xmlns:a="http://schemas.openxmlformats.org/drawingml/2006/main" noGrp="1"/>
          </p:cNvSpPr>
          <p:nvPr/>
        </p:nvSpPr>
        <p:spPr>
          <a:xfrm xmlns:a="http://schemas.openxmlformats.org/drawingml/2006/main">
            <a:off x="8915400" y="2000250"/>
            <a:ext cx="1409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254"/>
          </a:bodyPr>
          <a:lstStyle xmlns:a="http://schemas.openxmlformats.org/drawingml/2006/main"/>
          <a:p xmlns:a="http://schemas.openxmlformats.org/drawingml/2006/main">
            <a:pPr algn="ctr">
              <a:defRPr sz="1575" b="1" i="0">
                <a:solidFill>
                  <a:srgbClr val="9BC4D6"/>
                </a:solidFill>
                <a:latin typeface="Aptos"/>
                <a:ea typeface="Aptos"/>
                <a:cs typeface="Aptos"/>
              </a:defRPr>
            </a:pPr>
            <a:r>
              <a:rPr sz="1575" b="1" i="0">
                <a:solidFill>
                  <a:srgbClr val="9BC4D6"/>
                </a:solidFill>
                <a:latin typeface="Aptos"/>
                <a:ea typeface="Aptos"/>
                <a:cs typeface="Aptos"/>
              </a:rPr>
              <a:t>READ</a:t>
            </a:r>
          </a:p>
          <a:p xmlns:a="http://schemas.openxmlformats.org/drawingml/2006/main">
            <a:pPr algn="ctr">
              <a:defRPr sz="1575" b="1" i="0">
                <a:solidFill>
                  <a:srgbClr val="9BC4D6"/>
                </a:solidFill>
                <a:latin typeface="Aptos"/>
                <a:ea typeface="Aptos"/>
                <a:cs typeface="Aptos"/>
              </a:defRPr>
            </a:pPr>
            <a:r>
              <a:rPr sz="1575" b="1" i="0">
                <a:solidFill>
                  <a:srgbClr val="9BC4D6"/>
                </a:solidFill>
                <a:latin typeface="Aptos"/>
                <a:ea typeface="Aptos"/>
                <a:cs typeface="Aptos"/>
              </a:rPr>
              <a:t>EVIDENCE</a:t>
            </a:r>
          </a:p>
        </p:txBody>
      </p:sp>
      <p:sp>
        <p:nvSpPr>
          <p:cNvPr id="7" name="">
            <a:extLst xmlns:a="http://schemas.openxmlformats.org/drawingml/2006/main">
              <a:ext uri="{FF2B5EF4-FFF2-40B4-BE49-F238E27FC236}">
                <a16:creationId xmlns:a16="http://schemas.microsoft.com/office/drawing/2014/main" id="{A0D67937-03FE-422A-9009-AC664A0A5E60}"/>
              </a:ext>
            </a:extLst>
          </p:cNvPr>
          <p:cNvSpPr>
            <a:spLocks xmlns:a="http://schemas.openxmlformats.org/drawingml/2006/main" noGrp="1"/>
          </p:cNvSpPr>
          <p:nvPr/>
        </p:nvSpPr>
        <p:spPr>
          <a:xfrm xmlns:a="http://schemas.openxmlformats.org/drawingml/2006/main">
            <a:off x="8915400" y="2714625"/>
            <a:ext cx="1409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254"/>
          </a:bodyPr>
          <a:lstStyle xmlns:a="http://schemas.openxmlformats.org/drawingml/2006/main"/>
          <a:p xmlns:a="http://schemas.openxmlformats.org/drawingml/2006/main">
            <a:pPr algn="ctr">
              <a:defRPr sz="1575" b="1" i="0">
                <a:solidFill>
                  <a:srgbClr val="D3AF70"/>
                </a:solidFill>
                <a:latin typeface="Aptos"/>
                <a:ea typeface="Aptos"/>
                <a:cs typeface="Aptos"/>
              </a:defRPr>
            </a:pPr>
            <a:r>
              <a:rPr sz="1575" b="1" i="0">
                <a:solidFill>
                  <a:srgbClr val="D3AF70"/>
                </a:solidFill>
                <a:latin typeface="Aptos"/>
                <a:ea typeface="Aptos"/>
                <a:cs typeface="Aptos"/>
              </a:rPr>
              <a:t>GATE</a:t>
            </a:r>
          </a:p>
          <a:p xmlns:a="http://schemas.openxmlformats.org/drawingml/2006/main">
            <a:pPr algn="ctr">
              <a:defRPr sz="1575" b="1" i="0">
                <a:solidFill>
                  <a:srgbClr val="D3AF70"/>
                </a:solidFill>
                <a:latin typeface="Aptos"/>
                <a:ea typeface="Aptos"/>
                <a:cs typeface="Aptos"/>
              </a:defRPr>
            </a:pPr>
            <a:r>
              <a:rPr sz="1575" b="1" i="0">
                <a:solidFill>
                  <a:srgbClr val="D3AF70"/>
                </a:solidFill>
                <a:latin typeface="Aptos"/>
                <a:ea typeface="Aptos"/>
                <a:cs typeface="Aptos"/>
              </a:rPr>
              <a:t>RISK</a:t>
            </a:r>
          </a:p>
        </p:txBody>
      </p:sp>
      <p:sp>
        <p:nvSpPr>
          <p:cNvPr id="8" name="">
            <a:extLst xmlns:a="http://schemas.openxmlformats.org/drawingml/2006/main">
              <a:ext uri="{FF2B5EF4-FFF2-40B4-BE49-F238E27FC236}">
                <a16:creationId xmlns:a16="http://schemas.microsoft.com/office/drawing/2014/main" id="{B114803D-53FB-4EB5-A097-F46E26ED8153}"/>
              </a:ext>
            </a:extLst>
          </p:cNvPr>
          <p:cNvSpPr>
            <a:spLocks xmlns:a="http://schemas.openxmlformats.org/drawingml/2006/main" noGrp="1"/>
          </p:cNvSpPr>
          <p:nvPr/>
        </p:nvSpPr>
        <p:spPr>
          <a:xfrm xmlns:a="http://schemas.openxmlformats.org/drawingml/2006/main">
            <a:off x="8915400" y="3429000"/>
            <a:ext cx="1409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254"/>
          </a:bodyPr>
          <a:lstStyle xmlns:a="http://schemas.openxmlformats.org/drawingml/2006/main"/>
          <a:p xmlns:a="http://schemas.openxmlformats.org/drawingml/2006/main">
            <a:pPr algn="ctr">
              <a:defRPr sz="1575" b="1" i="0">
                <a:solidFill>
                  <a:srgbClr val="7DB89D"/>
                </a:solidFill>
                <a:latin typeface="Aptos"/>
                <a:ea typeface="Aptos"/>
                <a:cs typeface="Aptos"/>
              </a:defRPr>
            </a:pPr>
            <a:r>
              <a:rPr sz="1575" b="1" i="0">
                <a:solidFill>
                  <a:srgbClr val="7DB89D"/>
                </a:solidFill>
                <a:latin typeface="Aptos"/>
                <a:ea typeface="Aptos"/>
                <a:cs typeface="Aptos"/>
              </a:rPr>
              <a:t>PROVE</a:t>
            </a:r>
          </a:p>
          <a:p xmlns:a="http://schemas.openxmlformats.org/drawingml/2006/main">
            <a:pPr algn="ctr">
              <a:defRPr sz="1575" b="1" i="0">
                <a:solidFill>
                  <a:srgbClr val="7DB89D"/>
                </a:solidFill>
                <a:latin typeface="Aptos"/>
                <a:ea typeface="Aptos"/>
                <a:cs typeface="Aptos"/>
              </a:defRPr>
            </a:pPr>
            <a:r>
              <a:rPr sz="1575" b="1" i="0">
                <a:solidFill>
                  <a:srgbClr val="7DB89D"/>
                </a:solidFill>
                <a:latin typeface="Aptos"/>
                <a:ea typeface="Aptos"/>
                <a:cs typeface="Aptos"/>
              </a:rPr>
              <a:t>RECOVERY</a:t>
            </a:r>
          </a:p>
        </p:txBody>
      </p:sp>
      <p:sp>
        <p:nvSpPr>
          <p:cNvPr id="9" name="">
            <a:extLst xmlns:a="http://schemas.openxmlformats.org/drawingml/2006/main">
              <a:ext uri="{FF2B5EF4-FFF2-40B4-BE49-F238E27FC236}">
                <a16:creationId xmlns:a16="http://schemas.microsoft.com/office/drawing/2014/main" id="{745649C7-8463-466F-BB3F-AE395C53AC84}"/>
              </a:ext>
            </a:extLst>
          </p:cNvPr>
          <p:cNvSpPr>
            <a:spLocks xmlns:a="http://schemas.openxmlformats.org/drawingml/2006/main" noGrp="1"/>
          </p:cNvSpPr>
          <p:nvPr/>
        </p:nvSpPr>
        <p:spPr>
          <a:xfrm xmlns:a="http://schemas.openxmlformats.org/drawingml/2006/main">
            <a:off x="914400" y="57531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lgn="l">
              <a:defRPr sz="1350" b="0" i="0">
                <a:solidFill>
                  <a:srgbClr val="657181"/>
                </a:solidFill>
                <a:latin typeface="Aptos Mono"/>
                <a:ea typeface="Aptos Mono"/>
                <a:cs typeface="Aptos Mono"/>
              </a:defRPr>
            </a:pPr>
            <a:r>
              <a:rPr sz="1350" b="0" i="0">
                <a:solidFill>
                  <a:srgbClr val="657181"/>
                </a:solidFill>
                <a:latin typeface="Aptos Mono"/>
                <a:ea typeface="Aptos Mono"/>
                <a:cs typeface="Aptos Mono"/>
              </a:rPr>
              <a:t>Thank you</a:t>
            </a:r>
          </a:p>
        </p:txBody>
      </p:sp>
    </p:spTree>
    <p:extLst>
      <p:ext uri="{BB962C8B-B14F-4D97-AF65-F5344CB8AC3E}">
        <p14:creationId xmlns:p14="http://schemas.microsoft.com/office/powerpoint/2010/main" val="3711306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2026-10-01T00:20:04.3920000Z</dcterms:created>
  <dcterms:modified xsi:type="dcterms:W3CDTF">2026-10-01T00:20:04.3920000Z</dcterms:modified>
</coreProperties>
</file>